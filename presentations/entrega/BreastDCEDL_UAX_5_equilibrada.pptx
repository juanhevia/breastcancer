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ea855a1e614914" /><Relationship Type="http://schemas.openxmlformats.org/officeDocument/2006/relationships/extended-properties" Target="/docProps/app.xml" Id="R8e8b20888fcf4b75" /><Relationship Type="http://schemas.openxmlformats.org/officeDocument/2006/relationships/officeDocument" Target="/ppt/presentation.xml" Id="R8e70429c8a9342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350ca798a34155"/>
  </p:sldMasterIdLst>
  <p:notesMasterIdLst>
    <p:notesMasterId xmlns:r="http://schemas.openxmlformats.org/officeDocument/2006/relationships" r:id="R2171a54a42d0450e"/>
  </p:notesMasterIdLst>
  <p:sldIdLst>
    <p:sldId xmlns:r="http://schemas.openxmlformats.org/officeDocument/2006/relationships" id="256" r:id="Rb81521e22b394977"/>
    <p:sldId xmlns:r="http://schemas.openxmlformats.org/officeDocument/2006/relationships" id="257" r:id="Rceb3c0f4d1534fbe"/>
    <p:sldId xmlns:r="http://schemas.openxmlformats.org/officeDocument/2006/relationships" id="258" r:id="R89bae7149edb461f"/>
    <p:sldId xmlns:r="http://schemas.openxmlformats.org/officeDocument/2006/relationships" id="259" r:id="R3127afdb657747f3"/>
    <p:sldId xmlns:r="http://schemas.openxmlformats.org/officeDocument/2006/relationships" id="260" r:id="R23b1301634914d2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4bbb50da9c4479" /><Relationship Type="http://schemas.openxmlformats.org/officeDocument/2006/relationships/slideMaster" Target="/ppt/slideMasters/slideMaster1.xml" Id="Ra8350ca798a34155" /><Relationship Type="http://schemas.openxmlformats.org/officeDocument/2006/relationships/notesMaster" Target="/ppt/notesMasters/notesMaster1.xml" Id="R2171a54a42d0450e" /><Relationship Type="http://schemas.openxmlformats.org/officeDocument/2006/relationships/presProps" Target="/ppt/presProps.xml" Id="Rf8a972238d38470f" /><Relationship Type="http://schemas.openxmlformats.org/officeDocument/2006/relationships/viewProps" Target="/ppt/viewProps.xml" Id="Rbbc0ed9504a74fb5" /><Relationship Type="http://schemas.openxmlformats.org/officeDocument/2006/relationships/tableStyles" Target="/ppt/tableStyles.xml" Id="Rbb585d4148b643c0" /><Relationship Type="http://schemas.openxmlformats.org/officeDocument/2006/relationships/slide" Target="/ppt/slides/slide1.xml" Id="Rb81521e22b394977" /><Relationship Type="http://schemas.openxmlformats.org/officeDocument/2006/relationships/slide" Target="/ppt/slides/slide2.xml" Id="Rceb3c0f4d1534fbe" /><Relationship Type="http://schemas.openxmlformats.org/officeDocument/2006/relationships/slide" Target="/ppt/slides/slide3.xml" Id="R89bae7149edb461f" /><Relationship Type="http://schemas.openxmlformats.org/officeDocument/2006/relationships/slide" Target="/ppt/slides/slide4.xml" Id="R3127afdb657747f3" /><Relationship Type="http://schemas.openxmlformats.org/officeDocument/2006/relationships/slide" Target="/ppt/slides/slide5.xml" Id="R23b1301634914d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33932b690e4a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M Roman 10">
      <a:majorFont>
        <a:latin typeface="LM Roman 10"/>
        <a:ea typeface=""/>
        <a:cs typeface=""/>
      </a:majorFont>
      <a:minorFont>
        <a:latin typeface="LM Roman 1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dae0168a4c4026" /><Relationship Type="http://schemas.openxmlformats.org/officeDocument/2006/relationships/notesMaster" Target="/ppt/notesMasters/notesMaster1.xml" Id="R8b83273e49bd44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259d9fbc8147c7" /><Relationship Type="http://schemas.openxmlformats.org/officeDocument/2006/relationships/notesMaster" Target="/ppt/notesMasters/notesMaster1.xml" Id="Ra8dfae76b7714b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66514b6517475b" /><Relationship Type="http://schemas.openxmlformats.org/officeDocument/2006/relationships/notesMaster" Target="/ppt/notesMasters/notesMaster1.xml" Id="R37cb9a9dee1343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4c280207324c72" /><Relationship Type="http://schemas.openxmlformats.org/officeDocument/2006/relationships/notesMaster" Target="/ppt/notesMasters/notesMaster1.xml" Id="R37578e7e389446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c13eb777454d25" /><Relationship Type="http://schemas.openxmlformats.org/officeDocument/2006/relationships/notesMaster" Target="/ppt/notesMasters/notesMaster1.xml" Id="Reff98fe201aa40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problema no es diagnosticar presencia de cáncer: todas estas pacientes ya tienen cáncer de mama. La DCE-MRI se obtiene antes del tratamiento y la etiqueta se conoce después por anatomía patológica. pCR no equivale a curación ni autoriza omitir cirugía. La CNN usa las tres fases y entrega un logit por corte, que se convierte a probabilidad. La paciente es la unidad estadística. Fuentes: caso_breastdcedl.pdf, apartados 1–4 y 6; docs/memoria/memoria.md. Figura original: docs/figures/example_dce.png, documentación BreastDCEDL, Fridman y colaboradores, CC BY-NC 4.0. pCR significa respuesta patológica completa.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Hay 10.945 cortes de desarrollo y 1.097 pacientes, con prevalencia pCR 322/1097=29,35 %. Los cortes correlacionados no se cuentan como pacientes independientes. La preparación original del dataset recorta percentiles 1 y 99 con ventana común entre fases. Nosotros mantenemos esa ventana y dividimos entre 255. La CV previa rota cinco folds por paciente. En final_train no se reserva un fold externo adicional. La validación privada del profesor (177 pacientes) nunca está disponible para ajuste. Todos los cortes de cada paciente permanecen juntos. Fuentes: metadata/statistics.json, docs/memoria/memoria.md, src/data/aumentos.py, src/training/final_train.py.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es una ResNet preentrenada: es una CNN propia con atajos residuales, construida en PyTorch. V8 conserva la arquitectura de v7 y concatena dos diferencias calculadas dentro de la red. Las diferencias no crean información nueva, facilitan la representación del realce y el lavado. Cada bloque contiene dos convoluciones 3×3 y un atajo 1×1 cuando cambia el número de canales, con GroupNorm, ReLU, MaxPool y Dropout2d. El pooling global reduce el número de pesos frente a aplanar todos los píxeles. El clasificador usa dropout y entrega un logit para BCEWithLogitsLoss. Fuentes: src/models/modelo.py y docs/memoria/memoria.md, apartado 4. Dimensiones: entrada5×256×256; bloques16×128×128,32×64×64,64×32×32,96×16×16; pooling192; clasificador192/64/1.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Gráfica editable con valores redondeados a seis decimales para compatibilidad con Excel. Entrenamiento final con 878 pacientes, validación interna con 219. Se elige la época 6: AUC train 0,60064 y validación 0,57601, brecha 0,02464. Se para en la época 15 tras nueve sin mejora. Umbral exacto 0,356243176 por máximo F1 macro exclusivamente interno. Matriz interna: VP27 VN109 FP46 FN37; F1 macro0,559. Se compararon pérdidas normal y ponderada en v2/v7, con pos_weight=N0/N1 de entrenamiento. En v7 la sensibilidad media externa bajó de 0,346 normal a 0,251 ponderada: ponderar no garantiza mejora. V8 solo normal, comparación de pérdidas v8 pendiente. La diferencia de AUC CV entre v7 y v8 es pequeña, no prueba superioridad. CPU/ROCm usa API cuda. Fuentes: app/static/evidencia/v8/datos.json, historial.csv del final_train_v8 y docs/memoria/memoria.md.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aplicación HTML/FastAPI permite carga por paciente, muestra las tres fases y el realce, valida PNG gris de256×256, tamaños, fases y archivos corruptos. Usa eval e inference_mode, el mismo /255 y media de probabilidades que el pipeline. Informa checksum, dispositivo y tiempo. Las ocho pruebas técnicas pasaron. Aplicación publicada en https://breastcancer-bn0a.onrender.com/ el30/10/2026. El usuario confirmó que el análisis funciona. Plan gratuito: arranque lento tras inactividad. El profesor evaluará cinco muestras privadas sin cambiar código ni reentrenar. El test disponible de176 pacientes ya se evaluó: VP10 VN90 FP33 FN43, AUC0,504. La combinación clínica se añadió después de conocer ese test, sin modificar la CNN: regresiones con edad y subtipo, con y sin puntuación de imagen. Se ajustaron con878 y se compararon en219 internas reutilizadas; los scores de ajuste son in-sample, no OOF. Su AUC0,717 no es un test independiente. Combinado: FP53 FN16, frente a imagen FP46 FN37 al máximo F1 macro de cada uno. No todas las métricas mejoran. FP significa predecir pCR pese a enfermedad residual. Fuentes: docs/complemento_variables.md, app/README.md y resultados test_final_v8. La conclusión es una implementación reproducible con generalización de imagen limitada y complemento exploratorio.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6448a10924a51" /><Relationship Type="http://schemas.openxmlformats.org/officeDocument/2006/relationships/image" Target="/ppt/media/image.png" Id="Rd6cde1e6666f4b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1ed5c98b44513" /><Relationship Type="http://schemas.openxmlformats.org/officeDocument/2006/relationships/image" Target="/ppt/media/image2.png" Id="R098fc01d9b234b72" /></Relationships>
</file>

<file path=ppt/slideLayouts/slideLayout1.xml><?xml version="1.0" encoding="utf-8"?>
<p:sldLayout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1D877BAD-70E0-4973-B222-FA651BD33A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de1e6666f4b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346" y="260963"/>
            <a:ext cx="1874520" cy="4114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hf sldNum="0" hdr="0" ftr="0" dt="0"/>
</p:sldLayout>
</file>

<file path=ppt/slideLayouts/slideLayout2.xml><?xml version="1.0" encoding="utf-8"?>
<p:sldLayout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object 25">
            <a:extLst xmlns:a="http://schemas.openxmlformats.org/drawingml/2006/main">
              <a:ext uri="{FF2B5EF4-FFF2-40B4-BE49-F238E27FC236}">
                <a16:creationId xmlns:a16="http://schemas.microsoft.com/office/drawing/2014/main" id="{56E1CFAE-D191-4AA6-8748-E422D456A7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8fc01d9b234b72"/>
          <a:srcRect xmlns:a="http://schemas.openxmlformats.org/drawingml/2006/main" l="0" t="0" r="0" b="9915"/>
          <a:stretch xmlns:a="http://schemas.openxmlformats.org/drawingml/2006/main"/>
        </p:blipFill>
        <p:spPr>
          <a:xfrm xmlns:a="http://schemas.openxmlformats.org/drawingml/2006/main">
            <a:off x="9666514" y="5977316"/>
            <a:ext cx="2525486" cy="880683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7e96f2575c4bf9" /><Relationship Type="http://schemas.openxmlformats.org/officeDocument/2006/relationships/slideLayout" Target="/ppt/slideLayouts/slideLayout1.xml" Id="Rd4eb6edb1d2248fb" /><Relationship Type="http://schemas.openxmlformats.org/officeDocument/2006/relationships/slideLayout" Target="/ppt/slideLayouts/slideLayout2.xml" Id="R50099b39876a401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eb6edb1d2248fb"/>
    <p:sldLayoutId xmlns:r="http://schemas.openxmlformats.org/officeDocument/2006/relationships" id="2147483650" r:id="R50099b39876a401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M Roman 10">
      <a:majorFont>
        <a:latin typeface="LM Roman 10"/>
        <a:ea typeface=""/>
        <a:cs typeface=""/>
      </a:majorFont>
      <a:minorFont>
        <a:latin typeface="LM Roman 1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9d5129a124104" /><Relationship Type="http://schemas.openxmlformats.org/officeDocument/2006/relationships/image" Target="/ppt/media/image3.png" Id="R3410fe572de444da" /><Relationship Type="http://schemas.openxmlformats.org/officeDocument/2006/relationships/notesSlide" Target="/ppt/notesSlides/notesSlide1.xml" Id="Rec3501ddc25d40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fb0f709ab4f0e" /><Relationship Type="http://schemas.openxmlformats.org/officeDocument/2006/relationships/notesSlide" Target="/ppt/notesSlides/notesSlide2.xml" Id="Rcac99562c19045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d7d94f32a423c" /><Relationship Type="http://schemas.openxmlformats.org/officeDocument/2006/relationships/notesSlide" Target="/ppt/notesSlides/notesSlide3.xml" Id="Rf982f12d710c42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fce24c1fb464d" /><Relationship Type="http://schemas.openxmlformats.org/officeDocument/2006/relationships/chart" Target="/ppt/slides/charts/chart1.xml" Id="R39770812d31d410f" /><Relationship Type="http://schemas.openxmlformats.org/officeDocument/2006/relationships/notesSlide" Target="/ppt/notesSlides/notesSlide4.xml" Id="Rc3ed287bf28a4a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b51e615514ff2" /><Relationship Type="http://schemas.openxmlformats.org/officeDocument/2006/relationships/chart" Target="/ppt/slides/charts/chart2.xml" Id="Re09a2b0201cb4052" /><Relationship Type="http://schemas.openxmlformats.org/officeDocument/2006/relationships/notesSlide" Target="/ppt/notesSlides/notesSlide5.xml" Id="R896be8e3ef57476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Entrenamiento</c:v>
          </c:tx>
          <c:spPr>
            <a:ln xmlns:a="http://schemas.openxmlformats.org/drawingml/2006/main" w="28575">
              <a:solidFill>
                <a:srgbClr val="0862A7"/>
              </a:solidFill>
            </a:ln>
          </c:spPr>
          <c:marker>
            <c:symbol val="none"/>
          </c:marker>
          <c:cat>
            <c:numRef>
              <c:f>'Chart Data'!$A$2:$A$16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'Chart Data'!$B$2:$B$16</c:f>
              <c:numCache>
                <c:formatCode>General</c:formatCode>
                <c:ptCount val="15"/>
                <c:pt idx="0">
                  <c:v>0.533096</c:v>
                </c:pt>
                <c:pt idx="1">
                  <c:v>0.523156</c:v>
                </c:pt>
                <c:pt idx="2">
                  <c:v>0.559734</c:v>
                </c:pt>
                <c:pt idx="3">
                  <c:v>0.582908</c:v>
                </c:pt>
                <c:pt idx="4">
                  <c:v>0.600631</c:v>
                </c:pt>
                <c:pt idx="5">
                  <c:v>0.600644</c:v>
                </c:pt>
                <c:pt idx="6">
                  <c:v>0.60949</c:v>
                </c:pt>
                <c:pt idx="7">
                  <c:v>0.611878</c:v>
                </c:pt>
                <c:pt idx="8">
                  <c:v>0.615835</c:v>
                </c:pt>
                <c:pt idx="9">
                  <c:v>0.635159</c:v>
                </c:pt>
                <c:pt idx="10">
                  <c:v>0.645743</c:v>
                </c:pt>
                <c:pt idx="11">
                  <c:v>0.650331</c:v>
                </c:pt>
                <c:pt idx="12">
                  <c:v>0.671112</c:v>
                </c:pt>
                <c:pt idx="13">
                  <c:v>0.673006</c:v>
                </c:pt>
                <c:pt idx="14">
                  <c:v>0.682346</c:v>
                </c:pt>
              </c:numCache>
            </c:numRef>
          </c:val>
        </c:ser>
        <c:ser>
          <c:idx val="1"/>
          <c:order val="1"/>
          <c:tx>
            <c:v>Validación interna</c:v>
          </c:tx>
          <c:spPr>
            <a:ln xmlns:a="http://schemas.openxmlformats.org/drawingml/2006/main" w="28575">
              <a:solidFill>
                <a:srgbClr val="B56916"/>
              </a:solidFill>
            </a:ln>
          </c:spPr>
          <c:marker>
            <c:symbol val="none"/>
          </c:marker>
          <c:cat>
            <c:numRef>
              <c:f>'Chart Data'!$C$2:$C$16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cat>
          <c:val>
            <c:numRef>
              <c:f>'Chart Data'!$D$2:$D$16</c:f>
              <c:numCache>
                <c:formatCode>General</c:formatCode>
                <c:ptCount val="15"/>
                <c:pt idx="0">
                  <c:v>0.455847</c:v>
                </c:pt>
                <c:pt idx="1">
                  <c:v>0.45504</c:v>
                </c:pt>
                <c:pt idx="2">
                  <c:v>0.475</c:v>
                </c:pt>
                <c:pt idx="3">
                  <c:v>0.526613</c:v>
                </c:pt>
                <c:pt idx="4">
                  <c:v>0.547782</c:v>
                </c:pt>
                <c:pt idx="5">
                  <c:v>0.576008</c:v>
                </c:pt>
                <c:pt idx="6">
                  <c:v>0.560081</c:v>
                </c:pt>
                <c:pt idx="7">
                  <c:v>0.547278</c:v>
                </c:pt>
                <c:pt idx="8">
                  <c:v>0.548185</c:v>
                </c:pt>
                <c:pt idx="9">
                  <c:v>0.556149</c:v>
                </c:pt>
                <c:pt idx="10">
                  <c:v>0.557762</c:v>
                </c:pt>
                <c:pt idx="11">
                  <c:v>0.553024</c:v>
                </c:pt>
                <c:pt idx="12">
                  <c:v>0.566935</c:v>
                </c:pt>
                <c:pt idx="13">
                  <c:v>0.56623</c:v>
                </c:pt>
                <c:pt idx="14">
                  <c:v>0.558972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uli"/>
                  <a:ea typeface="Muli"/>
                  <a:cs typeface="Mul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83043"/>
                    </a:solidFill>
                    <a:latin typeface="Muli"/>
                    <a:ea typeface="Muli"/>
                    <a:cs typeface="Muli"/>
                  </a:rPr>
                  <a:t>Época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3043"/>
                  </a:solidFill>
                  <a:latin typeface="Muli"/>
                  <a:ea typeface="Muli"/>
                  <a:cs typeface="Mul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83043"/>
                    </a:solidFill>
                    <a:latin typeface="Muli"/>
                    <a:ea typeface="Muli"/>
                    <a:cs typeface="Muli"/>
                  </a:rPr>
                  <a:t>AUC por paciente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83043"/>
                  </a:solidFill>
                  <a:latin typeface="Muli"/>
                  <a:ea typeface="Muli"/>
                  <a:cs typeface="Mul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3043"/>
              </a:solidFill>
              <a:latin typeface="Muli"/>
              <a:ea typeface="Muli"/>
              <a:cs typeface="Mul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AUC interna</c:v>
          </c:tx>
          <c:spPr>
            <a:solidFill xmlns:a="http://schemas.openxmlformats.org/drawingml/2006/main">
              <a:srgbClr val="0862A7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Imágenes</c:v>
                </c:pt>
                <c:pt idx="1">
                  <c:v>Edad + subtipo</c:v>
                </c:pt>
                <c:pt idx="2">
                  <c:v>Combinación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0.576</c:v>
                </c:pt>
                <c:pt idx="1">
                  <c:v>0.689</c:v>
                </c:pt>
                <c:pt idx="2">
                  <c:v>0.717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uli"/>
                  <a:ea typeface="Muli"/>
                  <a:cs typeface="Mul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7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edicción de respuesta al tratamiento">
            <a:extLst xmlns:a="http://schemas.openxmlformats.org/drawingml/2006/main">
              <a:ext uri="{FF2B5EF4-FFF2-40B4-BE49-F238E27FC236}">
                <a16:creationId xmlns:a16="http://schemas.microsoft.com/office/drawing/2014/main" id="{23208BC1-AA83-4261-BFFC-4BD20850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Predicción de respuesta al tratamiento</a:t>
            </a:r>
          </a:p>
        </p:txBody>
      </p:sp>
      <p:sp>
        <p:nvSpPr>
          <p:cNvPr id="2" name="1 / 5">
            <a:extLst xmlns:a="http://schemas.openxmlformats.org/drawingml/2006/main">
              <a:ext uri="{FF2B5EF4-FFF2-40B4-BE49-F238E27FC236}">
                <a16:creationId xmlns:a16="http://schemas.microsoft.com/office/drawing/2014/main" id="{EF28557C-3724-4118-9217-B9B9BFFD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3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1 / 5</a:t>
            </a:r>
          </a:p>
        </p:txBody>
      </p:sp>
      <p:sp>
        <p:nvSpPr>
          <p:cNvPr id="3" name="pCR: respuesta patológica completa tras el tratamiento">
            <a:extLst xmlns:a="http://schemas.openxmlformats.org/drawingml/2006/main">
              <a:ext uri="{FF2B5EF4-FFF2-40B4-BE49-F238E27FC236}">
                <a16:creationId xmlns:a16="http://schemas.microsoft.com/office/drawing/2014/main" id="{77A40791-A62E-4842-B1D1-9254A405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25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pCR: respuesta patológica completa tras el tratamiento</a:t>
            </a:r>
          </a:p>
        </p:txBody>
      </p:sp>
      <p:sp>
        <p:nvSpPr>
          <p:cNvPr id="4" name="Ausencia de cáncer invasivo residual en mama y ganglios">
            <a:extLst xmlns:a="http://schemas.openxmlformats.org/drawingml/2006/main">
              <a:ext uri="{FF2B5EF4-FFF2-40B4-BE49-F238E27FC236}">
                <a16:creationId xmlns:a16="http://schemas.microsoft.com/office/drawing/2014/main" id="{C9C450E1-AA65-4EB5-B130-63BB5440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95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Ausencia de cáncer invasivo residual en mama y ganglios.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EC6EB-E8F6-48AE-B366-8A7CADD862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0fe572de444da"/>
          <a:stretch xmlns:a="http://schemas.openxmlformats.org/drawingml/2006/main"/>
        </p:blipFill>
        <p:spPr>
          <a:xfrm xmlns:a="http://schemas.openxmlformats.org/drawingml/2006/main">
            <a:off x="1383100" y="2857500"/>
            <a:ext cx="9406750" cy="2714625"/>
          </a:xfrm>
          <a:prstGeom xmlns:a="http://schemas.openxmlformats.org/drawingml/2006/main" prst="rect">
            <a:avLst/>
          </a:prstGeom>
        </p:spPr>
      </p:pic>
      <p:sp>
        <p:nvSpPr>
          <p:cNvPr id="6" name="Resonancia previa: una predicción por paciente">
            <a:extLst xmlns:a="http://schemas.openxmlformats.org/drawingml/2006/main">
              <a:ext uri="{FF2B5EF4-FFF2-40B4-BE49-F238E27FC236}">
                <a16:creationId xmlns:a16="http://schemas.microsoft.com/office/drawing/2014/main" id="{3E59BF82-D2D8-47E7-8E78-CCF5742E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175" b="1">
                <a:solidFill>
                  <a:srgbClr val="0862A7"/>
                </a:solidFill>
                <a:latin typeface="Muli"/>
                <a:ea typeface="Muli"/>
                <a:cs typeface="Muli"/>
              </a:rPr>
              <a:t>Resonancia previa: una predicción por paciente</a:t>
            </a:r>
          </a:p>
        </p:txBody>
      </p:sp>
      <p:sp>
        <p:nvSpPr>
          <p:cNvPr id="7" name="Media de las probabilidades de sus cortes y umbral eleg">
            <a:extLst xmlns:a="http://schemas.openxmlformats.org/drawingml/2006/main">
              <a:ext uri="{FF2B5EF4-FFF2-40B4-BE49-F238E27FC236}">
                <a16:creationId xmlns:a16="http://schemas.microsoft.com/office/drawing/2014/main" id="{FF55DAE2-F4DF-4A3D-AD30-9E8DEE85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80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Media de las probabilidades de sus cortes y umbral elegido en validación.</a:t>
            </a:r>
          </a:p>
        </p:txBody>
      </p:sp>
    </p:spTree>
    <p:extLst>
      <p:ext uri="{BB962C8B-B14F-4D97-AF65-F5344CB8AC3E}">
        <p14:creationId xmlns:p14="http://schemas.microsoft.com/office/powerpoint/2010/main" val="34188538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atos separados por paciente">
            <a:extLst xmlns:a="http://schemas.openxmlformats.org/drawingml/2006/main">
              <a:ext uri="{FF2B5EF4-FFF2-40B4-BE49-F238E27FC236}">
                <a16:creationId xmlns:a16="http://schemas.microsoft.com/office/drawing/2014/main" id="{4C119B5D-EAA5-44A5-8FC7-9DFBF3DE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Datos separados por paciente</a:t>
            </a:r>
          </a:p>
        </p:txBody>
      </p:sp>
      <p:sp>
        <p:nvSpPr>
          <p:cNvPr id="2" name="2 / 5">
            <a:extLst xmlns:a="http://schemas.openxmlformats.org/drawingml/2006/main">
              <a:ext uri="{FF2B5EF4-FFF2-40B4-BE49-F238E27FC236}">
                <a16:creationId xmlns:a16="http://schemas.microsoft.com/office/drawing/2014/main" id="{6D5D6D68-C5AE-4628-8966-5B69F168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3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2 / 5</a:t>
            </a:r>
          </a:p>
        </p:txBody>
      </p:sp>
      <p:sp>
        <p:nvSpPr>
          <p:cNvPr id="3" name="1.097 pacientes y 10.945 cortes de desarrollo">
            <a:extLst xmlns:a="http://schemas.openxmlformats.org/drawingml/2006/main">
              <a:ext uri="{FF2B5EF4-FFF2-40B4-BE49-F238E27FC236}">
                <a16:creationId xmlns:a16="http://schemas.microsoft.com/office/drawing/2014/main" id="{DC0502D9-B801-4C01-A723-375BA3D5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4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1.097 pacientes y 10.945 cortes de desarrollo</a:t>
            </a:r>
          </a:p>
        </p:txBody>
      </p:sp>
      <p:sp>
        <p:nvSpPr>
          <p:cNvPr id="4" name="322 con pCR (29 %) y 775 sin pCR. Separación estricta p">
            <a:extLst xmlns:a="http://schemas.openxmlformats.org/drawingml/2006/main">
              <a:ext uri="{FF2B5EF4-FFF2-40B4-BE49-F238E27FC236}">
                <a16:creationId xmlns:a16="http://schemas.microsoft.com/office/drawing/2014/main" id="{90ABBFB5-E68A-4DBB-BB5D-297B8D8C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322 con pCR (29 %) y 775 sin pCR. Separación estricta por paciente.</a:t>
            </a:r>
          </a:p>
        </p:txBody>
      </p:sp>
      <p:sp>
        <p:nvSpPr>
          <p:cNvPr id="5" name="878">
            <a:extLst xmlns:a="http://schemas.openxmlformats.org/drawingml/2006/main">
              <a:ext uri="{FF2B5EF4-FFF2-40B4-BE49-F238E27FC236}">
                <a16:creationId xmlns:a16="http://schemas.microsoft.com/office/drawing/2014/main" id="{9DF5B37B-F531-4891-B99D-68C21077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41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41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41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41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41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41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41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41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41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4125" b="1">
                <a:solidFill>
                  <a:srgbClr val="0862A7"/>
                </a:solidFill>
                <a:latin typeface="Muli"/>
                <a:ea typeface="Muli"/>
                <a:cs typeface="Muli"/>
              </a:rPr>
              <a:t>878</a:t>
            </a:r>
          </a:p>
        </p:txBody>
      </p:sp>
      <p:sp>
        <p:nvSpPr>
          <p:cNvPr id="6" name="entrenamiento final">
            <a:extLst xmlns:a="http://schemas.openxmlformats.org/drawingml/2006/main">
              <a:ext uri="{FF2B5EF4-FFF2-40B4-BE49-F238E27FC236}">
                <a16:creationId xmlns:a16="http://schemas.microsoft.com/office/drawing/2014/main" id="{1CFCCD37-E0F5-4345-A75D-69949631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10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entrenamiento final</a:t>
            </a:r>
          </a:p>
        </p:txBody>
      </p:sp>
      <p:sp>
        <p:nvSpPr>
          <p:cNvPr id="7" name="219">
            <a:extLst xmlns:a="http://schemas.openxmlformats.org/drawingml/2006/main">
              <a:ext uri="{FF2B5EF4-FFF2-40B4-BE49-F238E27FC236}">
                <a16:creationId xmlns:a16="http://schemas.microsoft.com/office/drawing/2014/main" id="{F2E711A0-F093-4BFC-BA66-729C95E5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B56916"/>
                </a:solidFill>
                <a:latin typeface="Muli"/>
                <a:ea typeface="Muli"/>
                <a:cs typeface="Muli"/>
              </a:defRPr>
            </a:defPPr>
            <a:lvl1pPr>
              <a:defRPr sz="4125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1pPr>
            <a:lvl2pPr>
              <a:defRPr sz="4125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2pPr>
            <a:lvl3pPr>
              <a:defRPr sz="4125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3pPr>
            <a:lvl4pPr>
              <a:defRPr sz="4125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4pPr>
            <a:lvl5pPr>
              <a:defRPr sz="4125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5pPr>
            <a:lvl6pPr>
              <a:defRPr sz="4125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6pPr>
            <a:lvl7pPr>
              <a:defRPr sz="4125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7pPr>
            <a:lvl8pPr>
              <a:defRPr sz="4125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8pPr>
            <a:lvl9pPr>
              <a:defRPr sz="4125" b="1">
                <a:solidFill>
                  <a:srgbClr val="B56916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B56916"/>
                </a:solidFill>
                <a:latin typeface="Muli"/>
                <a:ea typeface="Muli"/>
                <a:cs typeface="Muli"/>
              </a:defRPr>
            </a:pPr>
            <a:r>
              <a:rPr sz="4125" b="1">
                <a:solidFill>
                  <a:srgbClr val="B56916"/>
                </a:solidFill>
                <a:latin typeface="Muli"/>
                <a:ea typeface="Muli"/>
                <a:cs typeface="Muli"/>
              </a:rPr>
              <a:t>219</a:t>
            </a:r>
          </a:p>
        </p:txBody>
      </p:sp>
      <p:sp>
        <p:nvSpPr>
          <p:cNvPr id="8" name="validación interna">
            <a:extLst xmlns:a="http://schemas.openxmlformats.org/drawingml/2006/main">
              <a:ext uri="{FF2B5EF4-FFF2-40B4-BE49-F238E27FC236}">
                <a16:creationId xmlns:a16="http://schemas.microsoft.com/office/drawing/2014/main" id="{66FFB57B-6653-4733-B7BB-BABF4346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10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validación interna</a:t>
            </a:r>
          </a:p>
        </p:txBody>
      </p:sp>
      <p:sp>
        <p:nvSpPr>
          <p:cNvPr id="9" name="Test: 176 pacientes aparte. CV previa: 5 folds por paci">
            <a:extLst xmlns:a="http://schemas.openxmlformats.org/drawingml/2006/main">
              <a:ext uri="{FF2B5EF4-FFF2-40B4-BE49-F238E27FC236}">
                <a16:creationId xmlns:a16="http://schemas.microsoft.com/office/drawing/2014/main" id="{606CE9E7-AB5D-4ABD-BF1E-B98C4E86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19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19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19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19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19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19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19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19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19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195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Test: 176 pacientes aparte. CV previa: 5 folds por paciente.</a:t>
            </a:r>
          </a:p>
        </p:txBody>
      </p:sp>
      <p:sp>
        <p:nvSpPr>
          <p:cNvPr id="10" name="PNG gris de 256 × 256. PRE, EARLY y LATE divididas entr">
            <a:extLst xmlns:a="http://schemas.openxmlformats.org/drawingml/2006/main">
              <a:ext uri="{FF2B5EF4-FFF2-40B4-BE49-F238E27FC236}">
                <a16:creationId xmlns:a16="http://schemas.microsoft.com/office/drawing/2014/main" id="{7F1719B8-8F81-4D0A-B23E-D45B28BA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PNG gris de 256 × 256. PRE, EARLY y LATE divididas entre 255.</a:t>
            </a:r>
          </a:p>
        </p:txBody>
      </p:sp>
      <p:sp>
        <p:nvSpPr>
          <p:cNvPr id="11" name="Reflejo horizontal y giro ±10° conjuntos, solo durante ">
            <a:extLst xmlns:a="http://schemas.openxmlformats.org/drawingml/2006/main">
              <a:ext uri="{FF2B5EF4-FFF2-40B4-BE49-F238E27FC236}">
                <a16:creationId xmlns:a16="http://schemas.microsoft.com/office/drawing/2014/main" id="{37E3352F-D30C-4599-B2AA-43BDF008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Reflejo horizontal y giro ±10° conjuntos, solo durante entrenamiento.</a:t>
            </a:r>
          </a:p>
        </p:txBody>
      </p:sp>
      <p:sp>
        <p:nvSpPr>
          <p:cNvPr id="12" name="Todos los cortes de una paciente permanecen en el mismo">
            <a:extLst xmlns:a="http://schemas.openxmlformats.org/drawingml/2006/main">
              <a:ext uri="{FF2B5EF4-FFF2-40B4-BE49-F238E27FC236}">
                <a16:creationId xmlns:a16="http://schemas.microsoft.com/office/drawing/2014/main" id="{A7BB0425-5CA8-4864-A88A-0536C886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526875"/>
                </a:solidFill>
                <a:latin typeface="Muli"/>
                <a:ea typeface="Muli"/>
                <a:cs typeface="Muli"/>
              </a:rPr>
              <a:t>Todos los cortes de una paciente permanecen en el mismo conjunto.</a:t>
            </a:r>
          </a:p>
        </p:txBody>
      </p:sp>
    </p:spTree>
    <p:extLst>
      <p:ext uri="{BB962C8B-B14F-4D97-AF65-F5344CB8AC3E}">
        <p14:creationId xmlns:p14="http://schemas.microsoft.com/office/powerpoint/2010/main" val="34188538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rquitectura propia de la CNN v8">
            <a:extLst xmlns:a="http://schemas.openxmlformats.org/drawingml/2006/main">
              <a:ext uri="{FF2B5EF4-FFF2-40B4-BE49-F238E27FC236}">
                <a16:creationId xmlns:a16="http://schemas.microsoft.com/office/drawing/2014/main" id="{AD6B8805-6630-46CF-B883-DE41C1B3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Arquitectura propia de la CNN v8</a:t>
            </a:r>
          </a:p>
        </p:txBody>
      </p:sp>
      <p:sp>
        <p:nvSpPr>
          <p:cNvPr id="2" name="3 / 5">
            <a:extLst xmlns:a="http://schemas.openxmlformats.org/drawingml/2006/main">
              <a:ext uri="{FF2B5EF4-FFF2-40B4-BE49-F238E27FC236}">
                <a16:creationId xmlns:a16="http://schemas.microsoft.com/office/drawing/2014/main" id="{7861A91F-2246-4AAF-BAEC-67EA94E5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3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3 / 5</a:t>
            </a:r>
          </a:p>
        </p:txBody>
      </p:sp>
      <p:sp>
        <p:nvSpPr>
          <p:cNvPr id="3" name="5 canales: tres fases y dos diferencias con signo">
            <a:extLst xmlns:a="http://schemas.openxmlformats.org/drawingml/2006/main">
              <a:ext uri="{FF2B5EF4-FFF2-40B4-BE49-F238E27FC236}">
                <a16:creationId xmlns:a16="http://schemas.microsoft.com/office/drawing/2014/main" id="{F30E083B-8F6C-428A-B09F-ABF6F6D5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25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5 canales: tres fases y dos diferencias con signo</a:t>
            </a:r>
          </a:p>
        </p:txBody>
      </p:sp>
      <p:sp>
        <p:nvSpPr>
          <p:cNvPr id="4" name="PRE, EARLY, LATE, EARLY − PRE y LATE − EARLY">
            <a:extLst xmlns:a="http://schemas.openxmlformats.org/drawingml/2006/main">
              <a:ext uri="{FF2B5EF4-FFF2-40B4-BE49-F238E27FC236}">
                <a16:creationId xmlns:a16="http://schemas.microsoft.com/office/drawing/2014/main" id="{AC067A18-323D-498B-818B-732BDD8A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10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PRE, EARLY, LATE, EARLY − PRE y LATE − EARLY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42EEF-1359-4090-85F7-7FD6E3A2A735}"/>
              </a:ext>
            </a:extLst>
          </p:cNvPr>
          <p:cNvGraphicFramePr/>
          <p:nvPr/>
        </p:nvGraphicFramePr>
        <p:xfrm>
          <a:off xmlns:a="http://schemas.openxmlformats.org/drawingml/2006/main" x="609600" y="3152775"/>
          <a:ext xmlns:a="http://schemas.openxmlformats.org/drawingml/2006/main" cx="10953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20000"/>
              </a:tblGrid>
              <a:tr h="5476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</a:rPr>
                        <a:t>Etapa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E1EB"/>
                      </a:solidFill>
                      <a:prstDash val="solid"/>
                    </a:lnL>
                    <a:lnR w="9525">
                      <a:solidFill>
                        <a:srgbClr val="D2E1EB"/>
                      </a:solidFill>
                      <a:prstDash val="solid"/>
                    </a:lnR>
                    <a:lnT w="9525">
                      <a:solidFill>
                        <a:srgbClr val="D2E1EB"/>
                      </a:solidFill>
                      <a:prstDash val="solid"/>
                    </a:lnT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0862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uli"/>
                          <a:ea typeface="Muli"/>
                          <a:cs typeface="Muli"/>
                        </a:rPr>
                        <a:t>Operación / salida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E1EB"/>
                      </a:solidFill>
                      <a:prstDash val="solid"/>
                    </a:lnR>
                    <a:lnT w="9525">
                      <a:solidFill>
                        <a:srgbClr val="D2E1EB"/>
                      </a:solidFill>
                      <a:prstDash val="solid"/>
                    </a:lnT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0862A7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3"/>
                          </a:solidFill>
                          <a:latin typeface="Muli"/>
                          <a:ea typeface="Muli"/>
                          <a:cs typeface="Muli"/>
                        </a:rPr>
                        <a:t>4 bloques residuales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E1EB"/>
                      </a:solidFill>
                      <a:prstDash val="solid"/>
                    </a:lnL>
                    <a:lnR w="9525">
                      <a:solidFill>
                        <a:srgbClr val="D2E1EB"/>
                      </a:solidFill>
                      <a:prstDash val="solid"/>
                    </a:lnR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3"/>
                          </a:solidFill>
                          <a:latin typeface="Muli"/>
                          <a:ea typeface="Muli"/>
                          <a:cs typeface="Muli"/>
                        </a:rPr>
                        <a:t>16, 32, 64 y 96 canales; resolución final 16 × 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E1EB"/>
                      </a:solidFill>
                      <a:prstDash val="solid"/>
                    </a:lnR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F0F6FA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3"/>
                          </a:solidFill>
                          <a:latin typeface="Muli"/>
                          <a:ea typeface="Muli"/>
                          <a:cs typeface="Muli"/>
                        </a:rPr>
                        <a:t>Pooling global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E1EB"/>
                      </a:solidFill>
                      <a:prstDash val="solid"/>
                    </a:lnL>
                    <a:lnR w="9525">
                      <a:solidFill>
                        <a:srgbClr val="D2E1EB"/>
                      </a:solidFill>
                      <a:prstDash val="solid"/>
                    </a:lnR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3"/>
                          </a:solidFill>
                          <a:latin typeface="Muli"/>
                          <a:ea typeface="Muli"/>
                          <a:cs typeface="Muli"/>
                        </a:rPr>
                        <a:t>Media + máximo: 192 valores por corte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E1EB"/>
                      </a:solidFill>
                      <a:prstDash val="solid"/>
                    </a:lnR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3"/>
                          </a:solidFill>
                          <a:latin typeface="Muli"/>
                          <a:ea typeface="Muli"/>
                          <a:cs typeface="Muli"/>
                        </a:rPr>
                        <a:t>Clasificador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E1EB"/>
                      </a:solidFill>
                      <a:prstDash val="solid"/>
                    </a:lnL>
                    <a:lnR w="9525">
                      <a:solidFill>
                        <a:srgbClr val="D2E1EB"/>
                      </a:solidFill>
                      <a:prstDash val="solid"/>
                    </a:lnR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043"/>
                          </a:solidFill>
                          <a:latin typeface="Muli"/>
                          <a:ea typeface="Muli"/>
                          <a:cs typeface="Muli"/>
                        </a:rPr>
                        <a:t>192 / 64 / 1 logit; sigmoide para la probabilidad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E1EB"/>
                      </a:solidFill>
                      <a:prstDash val="solid"/>
                    </a:lnR>
                    <a:lnB w="9525">
                      <a:solidFill>
                        <a:srgbClr val="D2E1EB"/>
                      </a:solidFill>
                      <a:prstDash val="solid"/>
                    </a:lnB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  <p:sp>
        <p:nvSpPr>
          <p:cNvPr id="6" name="Convoluciones 3 × 3, GroupNorm, MaxPool y dropout.">
            <a:extLst xmlns:a="http://schemas.openxmlformats.org/drawingml/2006/main">
              <a:ext uri="{FF2B5EF4-FFF2-40B4-BE49-F238E27FC236}">
                <a16:creationId xmlns:a16="http://schemas.microsoft.com/office/drawing/2014/main" id="{2D7B69AB-EC2B-4B22-8A97-EE411F4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95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Convoluciones 3 × 3, GroupNorm, MaxPool y dropout.</a:t>
            </a:r>
          </a:p>
        </p:txBody>
      </p:sp>
      <p:sp>
        <p:nvSpPr>
          <p:cNvPr id="7" name="Desde cero. 232.833 parámetros entrenables.">
            <a:extLst xmlns:a="http://schemas.openxmlformats.org/drawingml/2006/main">
              <a:ext uri="{FF2B5EF4-FFF2-40B4-BE49-F238E27FC236}">
                <a16:creationId xmlns:a16="http://schemas.microsoft.com/office/drawing/2014/main" id="{8B63B568-6017-49F9-AFEF-302E544F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1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1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1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1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1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1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1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1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1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1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Desde cero. 232.833 parámetros entrenables.</a:t>
            </a:r>
          </a:p>
        </p:txBody>
      </p:sp>
    </p:spTree>
    <p:extLst>
      <p:ext uri="{BB962C8B-B14F-4D97-AF65-F5344CB8AC3E}">
        <p14:creationId xmlns:p14="http://schemas.microsoft.com/office/powerpoint/2010/main" val="34188538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lección del modelo durante el entrenamiento">
            <a:extLst xmlns:a="http://schemas.openxmlformats.org/drawingml/2006/main">
              <a:ext uri="{FF2B5EF4-FFF2-40B4-BE49-F238E27FC236}">
                <a16:creationId xmlns:a16="http://schemas.microsoft.com/office/drawing/2014/main" id="{FD55AA51-3BB0-491B-A11B-C4585BD1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Selección del modelo durante el entrenamiento</a:t>
            </a:r>
          </a:p>
        </p:txBody>
      </p:sp>
      <p:sp>
        <p:nvSpPr>
          <p:cNvPr id="2" name="4 / 5">
            <a:extLst xmlns:a="http://schemas.openxmlformats.org/drawingml/2006/main">
              <a:ext uri="{FF2B5EF4-FFF2-40B4-BE49-F238E27FC236}">
                <a16:creationId xmlns:a16="http://schemas.microsoft.com/office/drawing/2014/main" id="{55E45765-AB9E-4FE2-A336-35D0C34D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3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4 / 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D682615-874C-4678-A830-50D6832956C9}"/>
              </a:ext>
            </a:extLst>
          </p:cNvPr>
          <p:cNvGraphicFramePr/>
          <p:nvPr/>
        </p:nvGraphicFramePr>
        <p:xfrm>
          <a:off xmlns:a="http://schemas.openxmlformats.org/drawingml/2006/main" x="514350" y="2057400"/>
          <a:ext xmlns:a="http://schemas.openxmlformats.org/drawingml/2006/main" cx="69532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770812d31d410f"/>
          </a:graphicData>
        </a:graphic>
      </p:graphicFrame>
      <p:sp>
        <p:nvSpPr>
          <p:cNvPr id="4" name="Época 6 · AUC 0,576">
            <a:extLst xmlns:a="http://schemas.openxmlformats.org/drawingml/2006/main">
              <a:ext uri="{FF2B5EF4-FFF2-40B4-BE49-F238E27FC236}">
                <a16:creationId xmlns:a16="http://schemas.microsoft.com/office/drawing/2014/main" id="{32F1969B-8A5B-49E5-8C60-B7F9A425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050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4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Época 6 · AUC 0,576</a:t>
            </a:r>
          </a:p>
        </p:txBody>
      </p:sp>
      <p:sp>
        <p:nvSpPr>
          <p:cNvPr id="5" name="Validación interna">
            <a:extLst xmlns:a="http://schemas.openxmlformats.org/drawingml/2006/main">
              <a:ext uri="{FF2B5EF4-FFF2-40B4-BE49-F238E27FC236}">
                <a16:creationId xmlns:a16="http://schemas.microsoft.com/office/drawing/2014/main" id="{FD44D649-1443-476F-9DA1-2396DED9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Validación interna</a:t>
            </a:r>
          </a:p>
        </p:txBody>
      </p:sp>
      <p:sp>
        <p:nvSpPr>
          <p:cNvPr id="6" name="Umbral: 0,356 (F1 macro)&#10;Sensibilidad: 42,2 %&#10;Especific">
            <a:extLst xmlns:a="http://schemas.openxmlformats.org/drawingml/2006/main">
              <a:ext uri="{FF2B5EF4-FFF2-40B4-BE49-F238E27FC236}">
                <a16:creationId xmlns:a16="http://schemas.microsoft.com/office/drawing/2014/main" id="{7EDBB2B9-9890-4280-A72A-A5EDF893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90875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Umbral: 0,356 (F1 macro)</a:t>
            </a:r>
          </a:p>
          <a:p xmlns:a="http://schemas.openxmlformats.org/drawingml/2006/main">
            <a: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Sensibilidad: 42,2 %</a:t>
            </a:r>
          </a:p>
          <a:p xmlns:a="http://schemas.openxmlformats.org/drawingml/2006/main">
            <a: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Especificidad: 70,3 %</a:t>
            </a:r>
          </a:p>
        </p:txBody>
      </p:sp>
      <p:sp>
        <p:nvSpPr>
          <p:cNvPr id="7" name="CV externa de desarrollo">
            <a:extLst xmlns:a="http://schemas.openxmlformats.org/drawingml/2006/main">
              <a:ext uri="{FF2B5EF4-FFF2-40B4-BE49-F238E27FC236}">
                <a16:creationId xmlns:a16="http://schemas.microsoft.com/office/drawing/2014/main" id="{BC556833-7C5D-4789-946E-F301DEC6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434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17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17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17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17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17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17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17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17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17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1725" b="1">
                <a:solidFill>
                  <a:srgbClr val="0862A7"/>
                </a:solidFill>
                <a:latin typeface="Muli"/>
                <a:ea typeface="Muli"/>
                <a:cs typeface="Muli"/>
              </a:rPr>
              <a:t>CV externa de desarrollo</a:t>
            </a:r>
          </a:p>
        </p:txBody>
      </p:sp>
      <p:sp>
        <p:nvSpPr>
          <p:cNvPr id="8" name="V8: 0,543 ± 0,048&#10;V7: 0,533 ± 0,044">
            <a:extLst xmlns:a="http://schemas.openxmlformats.org/drawingml/2006/main">
              <a:ext uri="{FF2B5EF4-FFF2-40B4-BE49-F238E27FC236}">
                <a16:creationId xmlns:a16="http://schemas.microsoft.com/office/drawing/2014/main" id="{5C41CB58-11F2-4C11-A8A9-D2F57710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530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0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V8: 0,543 ± 0,048</a:t>
            </a:r>
          </a:p>
          <a:p xmlns:a="http://schemas.openxmlformats.org/drawingml/2006/main">
            <a: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0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V7: 0,533 ± 0,044</a:t>
            </a:r>
          </a:p>
        </p:txBody>
      </p:sp>
      <p:sp>
        <p:nvSpPr>
          <p:cNvPr id="9" name="AdamW, lr 0,0001, batch 16 y semilla 42. BCE normal.">
            <a:extLst xmlns:a="http://schemas.openxmlformats.org/drawingml/2006/main">
              <a:ext uri="{FF2B5EF4-FFF2-40B4-BE49-F238E27FC236}">
                <a16:creationId xmlns:a16="http://schemas.microsoft.com/office/drawing/2014/main" id="{DBDD5556-0E0E-43DB-8827-AC35AEE9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700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0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AdamW, lr 0,0001, batch 16 y semilla 42. BCE normal.</a:t>
            </a:r>
          </a:p>
        </p:txBody>
      </p:sp>
      <p:sp>
        <p:nvSpPr>
          <p:cNvPr id="10" name="Early stopping: 9 épocas sin mejora del AUC interno.">
            <a:extLst xmlns:a="http://schemas.openxmlformats.org/drawingml/2006/main">
              <a:ext uri="{FF2B5EF4-FFF2-40B4-BE49-F238E27FC236}">
                <a16:creationId xmlns:a16="http://schemas.microsoft.com/office/drawing/2014/main" id="{A8B0403D-8AEC-43EE-8D0D-A4164BBF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80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Early stopping: 9 épocas sin mejora del AUC interno.</a:t>
            </a:r>
          </a:p>
        </p:txBody>
      </p:sp>
    </p:spTree>
    <p:extLst>
      <p:ext uri="{BB962C8B-B14F-4D97-AF65-F5344CB8AC3E}">
        <p14:creationId xmlns:p14="http://schemas.microsoft.com/office/powerpoint/2010/main" val="34188538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plicación pública y límites del modelo">
            <a:extLst xmlns:a="http://schemas.openxmlformats.org/drawingml/2006/main">
              <a:ext uri="{FF2B5EF4-FFF2-40B4-BE49-F238E27FC236}">
                <a16:creationId xmlns:a16="http://schemas.microsoft.com/office/drawing/2014/main" id="{4F422DBB-B453-478D-97E3-65D9122A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30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Aplicación pública y límites del modelo</a:t>
            </a:r>
          </a:p>
        </p:txBody>
      </p:sp>
      <p:sp>
        <p:nvSpPr>
          <p:cNvPr id="2" name="5 / 5">
            <a:extLst xmlns:a="http://schemas.openxmlformats.org/drawingml/2006/main">
              <a:ext uri="{FF2B5EF4-FFF2-40B4-BE49-F238E27FC236}">
                <a16:creationId xmlns:a16="http://schemas.microsoft.com/office/drawing/2014/main" id="{080F96AD-D133-4117-B005-E31F995E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35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5 / 5</a:t>
            </a:r>
          </a:p>
        </p:txBody>
      </p:sp>
      <p:sp>
        <p:nvSpPr>
          <p:cNvPr id="3" name="breastcancer-bn0a.onrender.com">
            <a:extLst xmlns:a="http://schemas.openxmlformats.org/drawingml/2006/main">
              <a:ext uri="{FF2B5EF4-FFF2-40B4-BE49-F238E27FC236}">
                <a16:creationId xmlns:a16="http://schemas.microsoft.com/office/drawing/2014/main" id="{89736FD7-1F0C-4788-A021-69C2259C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4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breastcancer-bn0a.onrender.com</a:t>
            </a:r>
          </a:p>
        </p:txBody>
      </p:sp>
      <p:sp>
        <p:nvSpPr>
          <p:cNvPr id="4" name="Cargar fases, revisar imágenes y obtener una predicción">
            <a:extLst xmlns:a="http://schemas.openxmlformats.org/drawingml/2006/main">
              <a:ext uri="{FF2B5EF4-FFF2-40B4-BE49-F238E27FC236}">
                <a16:creationId xmlns:a16="http://schemas.microsoft.com/office/drawing/2014/main" id="{C6C0590C-6EEE-4E2D-AE12-539B2610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2100" b="0">
                <a:solidFill>
                  <a:srgbClr val="183043"/>
                </a:solidFill>
                <a:latin typeface="Muli"/>
                <a:ea typeface="Muli"/>
                <a:cs typeface="Muli"/>
              </a:rPr>
              <a:t>Cargar fases, revisar imágenes y obtener una predicción por paciente.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942D81D-E335-4D33-84C0-16C71CC13AAC}"/>
              </a:ext>
            </a:extLst>
          </p:cNvPr>
          <p:cNvGraphicFramePr/>
          <p:nvPr/>
        </p:nvGraphicFramePr>
        <p:xfrm>
          <a:off xmlns:a="http://schemas.openxmlformats.org/drawingml/2006/main" x="514350" y="3524250"/>
          <a:ext xmlns:a="http://schemas.openxmlformats.org/drawingml/2006/main" cx="6572250" cy="2524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9a2b0201cb4052"/>
          </a:graphicData>
        </a:graphic>
      </p:graphicFrame>
      <p:sp>
        <p:nvSpPr>
          <p:cNvPr id="6" name="Comparación interna exploratoria">
            <a:extLst xmlns:a="http://schemas.openxmlformats.org/drawingml/2006/main">
              <a:ext uri="{FF2B5EF4-FFF2-40B4-BE49-F238E27FC236}">
                <a16:creationId xmlns:a16="http://schemas.microsoft.com/office/drawing/2014/main" id="{B16C4A2F-AC95-49BA-9126-D0373AC4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1800" b="1">
                <a:solidFill>
                  <a:srgbClr val="0862A7"/>
                </a:solidFill>
                <a:latin typeface="Muli"/>
                <a:ea typeface="Muli"/>
                <a:cs typeface="Muli"/>
              </a:rPr>
              <a:t>Comparación interna exploratoria</a:t>
            </a:r>
          </a:p>
        </p:txBody>
      </p:sp>
      <p:sp>
        <p:nvSpPr>
          <p:cNvPr id="7" name="Generalización limitada">
            <a:extLst xmlns:a="http://schemas.openxmlformats.org/drawingml/2006/main">
              <a:ext uri="{FF2B5EF4-FFF2-40B4-BE49-F238E27FC236}">
                <a16:creationId xmlns:a16="http://schemas.microsoft.com/office/drawing/2014/main" id="{EDFD4F8D-64C1-4759-B967-012063AD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00425"/>
            <a:ext cx="395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defPPr>
            <a:lvl1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1pPr>
            <a:lvl2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2pPr>
            <a:lvl3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3pPr>
            <a:lvl4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4pPr>
            <a:lvl5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5pPr>
            <a:lvl6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6pPr>
            <a:lvl7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7pPr>
            <a:lvl8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8pPr>
            <a:lvl9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62A7"/>
                </a:solidFill>
                <a:latin typeface="Muli"/>
                <a:ea typeface="Muli"/>
                <a:cs typeface="Muli"/>
              </a:defRPr>
            </a:pPr>
            <a:r>
              <a:rPr sz="2175" b="1">
                <a:solidFill>
                  <a:srgbClr val="0862A7"/>
                </a:solidFill>
                <a:latin typeface="Muli"/>
                <a:ea typeface="Muli"/>
                <a:cs typeface="Muli"/>
              </a:rPr>
              <a:t>Generalización limitada</a:t>
            </a:r>
          </a:p>
        </p:txBody>
      </p:sp>
      <p:sp>
        <p:nvSpPr>
          <p:cNvPr id="8" name="Test CNN: AUC 0,504&#10;IC 95 %: 0,410–0,597&#10;Complemento: v">
            <a:extLst xmlns:a="http://schemas.openxmlformats.org/drawingml/2006/main">
              <a:ext uri="{FF2B5EF4-FFF2-40B4-BE49-F238E27FC236}">
                <a16:creationId xmlns:a16="http://schemas.microsoft.com/office/drawing/2014/main" id="{7AEBFE31-C931-4311-816F-D3F9CE5D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62400"/>
            <a:ext cx="3952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defPPr>
            <a:lvl1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1pPr>
            <a:lvl2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2pPr>
            <a:lvl3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3pPr>
            <a:lvl4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4pPr>
            <a:lvl5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5pPr>
            <a:lvl6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6pPr>
            <a:lvl7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7pPr>
            <a:lvl8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8pPr>
            <a:lvl9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Test CNN: AUC 0,504</a:t>
            </a:r>
          </a:p>
          <a:p xmlns:a="http://schemas.openxmlformats.org/drawingml/2006/main">
            <a: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IC 95 %: 0,410–0,597</a:t>
            </a:r>
          </a:p>
          <a:p xmlns:a="http://schemas.openxmlformats.org/drawingml/2006/main">
            <a: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Complemento: validación</a:t>
            </a:r>
          </a:p>
          <a:p xmlns:a="http://schemas.openxmlformats.org/drawingml/2006/main">
            <a:pPr>
              <a:defRPr sz="1875" b="0">
                <a:solidFill>
                  <a:srgbClr val="183043"/>
                </a:solidFill>
                <a:latin typeface="Muli"/>
                <a:ea typeface="Muli"/>
                <a:cs typeface="Muli"/>
              </a:defRPr>
            </a:pPr>
            <a:r>
              <a:rPr sz="1875" b="0">
                <a:solidFill>
                  <a:srgbClr val="183043"/>
                </a:solidFill>
                <a:latin typeface="Muli"/>
                <a:ea typeface="Muli"/>
                <a:cs typeface="Muli"/>
              </a:rPr>
              <a:t>interna reutilizada.</a:t>
            </a:r>
          </a:p>
        </p:txBody>
      </p:sp>
      <p:sp>
        <p:nvSpPr>
          <p:cNvPr id="9" name="Necesita evaluación independiente. Sin utilidad clínica">
            <a:extLst xmlns:a="http://schemas.openxmlformats.org/drawingml/2006/main">
              <a:ext uri="{FF2B5EF4-FFF2-40B4-BE49-F238E27FC236}">
                <a16:creationId xmlns:a16="http://schemas.microsoft.com/office/drawing/2014/main" id="{19A49DA8-2910-4033-B386-B2BDFE01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05450"/>
            <a:ext cx="3952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defPPr>
            <a:lvl1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1pPr>
            <a:lvl2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2pPr>
            <a:lvl3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3pPr>
            <a:lvl4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4pPr>
            <a:lvl5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5pPr>
            <a:lvl6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6pPr>
            <a:lvl7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7pPr>
            <a:lvl8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8pPr>
            <a:lvl9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875"/>
                </a:solidFill>
                <a:latin typeface="Muli"/>
                <a:ea typeface="Muli"/>
                <a:cs typeface="Muli"/>
              </a:defRPr>
            </a:pPr>
            <a:r>
              <a:rPr sz="1800" b="0">
                <a:solidFill>
                  <a:srgbClr val="526875"/>
                </a:solidFill>
                <a:latin typeface="Muli"/>
                <a:ea typeface="Muli"/>
                <a:cs typeface="Muli"/>
              </a:rPr>
              <a:t>Necesita evaluación independiente. Sin utilidad clínica demostrada.</a:t>
            </a:r>
          </a:p>
        </p:txBody>
      </p:sp>
    </p:spTree>
    <p:extLst>
      <p:ext uri="{BB962C8B-B14F-4D97-AF65-F5344CB8AC3E}">
        <p14:creationId xmlns:p14="http://schemas.microsoft.com/office/powerpoint/2010/main" val="3418853889"/>
      </p:ext>
    </p:extLst>
  </p:cSld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M Roman 10">
      <a:majorFont>
        <a:latin typeface="LM Roman 10"/>
        <a:ea typeface=""/>
        <a:cs typeface=""/>
      </a:majorFont>
      <a:minorFont>
        <a:latin typeface="LM Roman 1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2026-10-30T16:20:26.4070000Z</dcterms:created>
  <dcterms:modified xsi:type="dcterms:W3CDTF">2026-10-30T16:20:26.4070000Z</dcterms:modified>
</coreProperties>
</file>