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d6747dbeee4746" /><Relationship Type="http://schemas.openxmlformats.org/officeDocument/2006/relationships/extended-properties" Target="/docProps/app.xml" Id="R684608be661e4386" /><Relationship Type="http://schemas.openxmlformats.org/officeDocument/2006/relationships/officeDocument" Target="/ppt/presentation.xml" Id="R40a59cb0e92946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97d9d66e4441af"/>
  </p:sldMasterIdLst>
  <p:notesMasterIdLst>
    <p:notesMasterId xmlns:r="http://schemas.openxmlformats.org/officeDocument/2006/relationships" r:id="R145eaa04a1ec4043"/>
  </p:notesMasterIdLst>
  <p:sldIdLst>
    <p:sldId xmlns:r="http://schemas.openxmlformats.org/officeDocument/2006/relationships" id="256" r:id="Rfac322b217604b84"/>
    <p:sldId xmlns:r="http://schemas.openxmlformats.org/officeDocument/2006/relationships" id="257" r:id="R37ffe248d11a4ab8"/>
    <p:sldId xmlns:r="http://schemas.openxmlformats.org/officeDocument/2006/relationships" id="258" r:id="R6b2ba3b6f0b64ed5"/>
    <p:sldId xmlns:r="http://schemas.openxmlformats.org/officeDocument/2006/relationships" id="259" r:id="Rd92b975372d34899"/>
    <p:sldId xmlns:r="http://schemas.openxmlformats.org/officeDocument/2006/relationships" id="260" r:id="Rc9f4eb8bdc8f454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a83ad79d9e49c0" /><Relationship Type="http://schemas.openxmlformats.org/officeDocument/2006/relationships/slideMaster" Target="/ppt/slideMasters/slideMaster1.xml" Id="R6997d9d66e4441af" /><Relationship Type="http://schemas.openxmlformats.org/officeDocument/2006/relationships/notesMaster" Target="/ppt/notesMasters/notesMaster1.xml" Id="R145eaa04a1ec4043" /><Relationship Type="http://schemas.openxmlformats.org/officeDocument/2006/relationships/presProps" Target="/ppt/presProps.xml" Id="Rf8c3ba663a184eee" /><Relationship Type="http://schemas.openxmlformats.org/officeDocument/2006/relationships/viewProps" Target="/ppt/viewProps.xml" Id="R412d4f523fa848f3" /><Relationship Type="http://schemas.openxmlformats.org/officeDocument/2006/relationships/tableStyles" Target="/ppt/tableStyles.xml" Id="Rbebc260ec6974b95" /><Relationship Type="http://schemas.openxmlformats.org/officeDocument/2006/relationships/slide" Target="/ppt/slides/slide1.xml" Id="Rfac322b217604b84" /><Relationship Type="http://schemas.openxmlformats.org/officeDocument/2006/relationships/slide" Target="/ppt/slides/slide2.xml" Id="R37ffe248d11a4ab8" /><Relationship Type="http://schemas.openxmlformats.org/officeDocument/2006/relationships/slide" Target="/ppt/slides/slide3.xml" Id="R6b2ba3b6f0b64ed5" /><Relationship Type="http://schemas.openxmlformats.org/officeDocument/2006/relationships/slide" Target="/ppt/slides/slide4.xml" Id="Rd92b975372d34899" /><Relationship Type="http://schemas.openxmlformats.org/officeDocument/2006/relationships/slide" Target="/ppt/slides/slide5.xml" Id="Rc9f4eb8bdc8f45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c7b3085c8d49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M Roman 10">
      <a:majorFont>
        <a:latin typeface="LM Roman 10"/>
        <a:ea typeface=""/>
        <a:cs typeface=""/>
      </a:majorFont>
      <a:minorFont>
        <a:latin typeface="LM Roman 1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7c312808104fd6" /><Relationship Type="http://schemas.openxmlformats.org/officeDocument/2006/relationships/notesMaster" Target="/ppt/notesMasters/notesMaster1.xml" Id="R7cbba304d5e942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92378877554b4e" /><Relationship Type="http://schemas.openxmlformats.org/officeDocument/2006/relationships/notesMaster" Target="/ppt/notesMasters/notesMaster1.xml" Id="Rd4bdc524d96743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62e6fe9eda4080" /><Relationship Type="http://schemas.openxmlformats.org/officeDocument/2006/relationships/notesMaster" Target="/ppt/notesMasters/notesMaster1.xml" Id="Rf4c2ebc9eb684c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ba1c64ea704007" /><Relationship Type="http://schemas.openxmlformats.org/officeDocument/2006/relationships/notesMaster" Target="/ppt/notesMasters/notesMaster1.xml" Id="Re2f95cc7a38549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8c8b065b31427a" /><Relationship Type="http://schemas.openxmlformats.org/officeDocument/2006/relationships/notesMaster" Target="/ppt/notesMasters/notesMaster1.xml" Id="R0eda3fc426a34f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problema no es diagnosticar presencia de cáncer: todas estas pacientes ya tienen cáncer de mama. La DCE-MRI se obtiene antes del tratamiento y la etiqueta se conoce después por anatomía patológica. pCR no equivale a curación ni autoriza omitir cirugía. La CNN usa las tres fases y entrega un logit por corte, que se convierte a probabilidad. La paciente es la unidad estadística. Fuentes: caso_breastdcedl.pdf, apartados 1–4 y 6; docs/memoria/memoria.md. Figura original: docs/figures/example_dce.png, documentación BreastDCEDL, Fridman y colaboradores, CC BY-NC 4.0. pCR significa respuesta patológica completa.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Hay 10.945 cortes de desarrollo y 1.097 pacientes, con prevalencia pCR 322/1097=29,35 %. Los cortes correlacionados no se cuentan como pacientes independientes. La preparación original del dataset recorta percentiles 1 y 99 con ventana común entre fases. Nosotros mantenemos esa ventana y dividimos entre 255. La CV previa rota cinco folds por paciente. En final_train no se reserva un fold externo adicional. La validación privada del profesor (177 pacientes) nunca está disponible para ajuste. Todos los cortes de cada paciente permanecen juntos. Fuentes: metadata/statistics.json, docs/memoria/memoria.md, src/data/aumentos.py, src/training/final_train.py.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es una ResNet preentrenada: es una CNN propia con atajos residuales, construida en PyTorch. V8 conserva la arquitectura de v7 y concatena dos diferencias calculadas dentro de la red. Las diferencias no crean información nueva, facilitan la representación del realce y el lavado. Cada bloque contiene dos convoluciones 3×3 y un atajo 1×1 cuando cambia el número de canales, con GroupNorm, ReLU, MaxPool y Dropout2d. El pooling global reduce el número de pesos frente a aplanar todos los píxeles. El clasificador usa dropout y entrega un logit para BCEWithLogitsLoss. Fuentes: src/models/modelo.py y docs/memoria/memoria.md, apartado 4. Dimensiones: entrada5×256×256; bloques16×128×128,32×64×64,64×32×32,96×16×16; pooling192; clasificador192/64/1.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Gráfica editable con valores redondeados a seis decimales para compatibilidad con Excel. Entrenamiento final con 878 pacientes, validación interna con 219. Se elige la época 6: AUC train 0,60064 y validación 0,57601, brecha 0,02464. Se para en la época 15 tras nueve sin mejora. Umbral exacto 0,356243176 por máximo F1 macro exclusivamente interno. Matriz interna: VP27 VN109 FP46 FN37; F1 macro0,559. Se compararon pérdidas normal y ponderada en v2/v7, con pos_weight=N0/N1 de entrenamiento. En v7 la sensibilidad media externa bajó de 0,346 normal a 0,251 ponderada: ponderar no garantiza mejora. V8 solo normal, comparación de pérdidas v8 pendiente. La diferencia de AUC CV entre v7 y v8 es pequeña, no prueba superioridad. CPU/ROCm usa API cuda. Fuentes: app/static/evidencia/v8/datos.json, historial.csv del final_train_v8 y docs/memoria/memoria.md.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aplicación HTML/FastAPI permite carga por paciente, muestra las tres fases y el realce, valida PNG gris de256×256, tamaños, fases y archivos corruptos. Usa eval e inference_mode, el mismo /255 y media de probabilidades que el pipeline. Informa checksum, dispositivo y tiempo. Las ocho pruebas técnicas pasaron. Aplicación publicada en https://breastcancer-bn0a.onrender.com/ el30/10/2026. El usuario confirmó que el análisis funciona. Plan gratuito: arranque lento tras inactividad. El profesor evaluará cinco muestras privadas sin cambiar código ni reentrenar. El test disponible de176 pacientes ya se evaluó: VP10 VN90 FP33 FN43, AUC0,504. La combinación clínica se añadió después de conocer ese test, sin modificar la CNN: regresiones con edad y subtipo, con y sin puntuación de imagen. Se ajustaron con878 y se compararon en219 internas reutilizadas; los scores de ajuste son in-sample, no OOF. Su AUC0,717 no es un test independiente. Combinado: FP53 FN16, frente a imagen FP46 FN37 al máximo F1 macro de cada uno. No todas las métricas mejoran. FP significa predecir pCR pese a enfermedad residual. Fuentes: docs/complemento_variables.md, app/README.md y resultados test_final_v8. La conclusión es una implementación reproducible con generalización de imagen limitada y complemento exploratorio.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f4ab46f7140f0" /><Relationship Type="http://schemas.openxmlformats.org/officeDocument/2006/relationships/image" Target="/ppt/media/image.png" Id="Ra1af787bbabf44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49fa14b704e56" /><Relationship Type="http://schemas.openxmlformats.org/officeDocument/2006/relationships/image" Target="/ppt/media/image2.png" Id="R1301208d6c99494c" /></Relationships>
</file>

<file path=ppt/slideLayouts/slideLayout1.xml><?xml version="1.0" encoding="utf-8"?>
<p:sldLayout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7955CABA-D23A-43B6-8DA6-A2A0048FBD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f787bbabf44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346" y="260963"/>
            <a:ext cx="1874520" cy="4114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hf sldNum="0" hdr="0" ftr="0" dt="0"/>
</p:sldLayout>
</file>

<file path=ppt/slideLayouts/slideLayout2.xml><?xml version="1.0" encoding="utf-8"?>
<p:sldLayout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object 25">
            <a:extLst xmlns:a="http://schemas.openxmlformats.org/drawingml/2006/main">
              <a:ext uri="{FF2B5EF4-FFF2-40B4-BE49-F238E27FC236}">
                <a16:creationId xmlns:a16="http://schemas.microsoft.com/office/drawing/2014/main" id="{1C791726-B49A-4A5B-9CA6-1441F851AD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01208d6c99494c"/>
          <a:srcRect xmlns:a="http://schemas.openxmlformats.org/drawingml/2006/main" l="0" t="0" r="0" b="9915"/>
          <a:stretch xmlns:a="http://schemas.openxmlformats.org/drawingml/2006/main"/>
        </p:blipFill>
        <p:spPr>
          <a:xfrm xmlns:a="http://schemas.openxmlformats.org/drawingml/2006/main">
            <a:off x="9666514" y="5977316"/>
            <a:ext cx="2525486" cy="880683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5ce6f21015481b" /><Relationship Type="http://schemas.openxmlformats.org/officeDocument/2006/relationships/slideLayout" Target="/ppt/slideLayouts/slideLayout1.xml" Id="R0a88a80f68c8453d" /><Relationship Type="http://schemas.openxmlformats.org/officeDocument/2006/relationships/slideLayout" Target="/ppt/slideLayouts/slideLayout2.xml" Id="Rb2ea85704a8d49e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88a80f68c8453d"/>
    <p:sldLayoutId xmlns:r="http://schemas.openxmlformats.org/officeDocument/2006/relationships" id="2147483650" r:id="Rb2ea85704a8d49e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M Roman 10">
      <a:majorFont>
        <a:latin typeface="LM Roman 10"/>
        <a:ea typeface=""/>
        <a:cs typeface=""/>
      </a:majorFont>
      <a:minorFont>
        <a:latin typeface="LM Roman 1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b5f29c0d84fe7" /><Relationship Type="http://schemas.openxmlformats.org/officeDocument/2006/relationships/image" Target="/ppt/media/image3.png" Id="R03ef4084b0a34328" /><Relationship Type="http://schemas.openxmlformats.org/officeDocument/2006/relationships/notesSlide" Target="/ppt/notesSlides/notesSlide1.xml" Id="Rc6fa55cb95534a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0a3c267cd472d" /><Relationship Type="http://schemas.openxmlformats.org/officeDocument/2006/relationships/notesSlide" Target="/ppt/notesSlides/notesSlide2.xml" Id="Ra0d0666520c34a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8c40c3abd452f" /><Relationship Type="http://schemas.openxmlformats.org/officeDocument/2006/relationships/notesSlide" Target="/ppt/notesSlides/notesSlide3.xml" Id="R35d24783369b40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96f2e1de94a42" /><Relationship Type="http://schemas.openxmlformats.org/officeDocument/2006/relationships/chart" Target="/ppt/slides/charts/chart1.xml" Id="R045fb9f512dd4bea" /><Relationship Type="http://schemas.openxmlformats.org/officeDocument/2006/relationships/notesSlide" Target="/ppt/notesSlides/notesSlide4.xml" Id="Re3e6cda8200a42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87d070947465a" /><Relationship Type="http://schemas.openxmlformats.org/officeDocument/2006/relationships/chart" Target="/ppt/slides/charts/chart2.xml" Id="R71bef40d5c9d498c" /><Relationship Type="http://schemas.openxmlformats.org/officeDocument/2006/relationships/notesSlide" Target="/ppt/notesSlides/notesSlide5.xml" Id="R92960bdf448844c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Entrenamiento</c:v>
          </c:tx>
          <c:spPr>
            <a:ln xmlns:a="http://schemas.openxmlformats.org/drawingml/2006/main" w="28575">
              <a:solidFill>
                <a:srgbClr val="0862A7"/>
              </a:solidFill>
            </a:ln>
          </c:spPr>
          <c:marker>
            <c:symbol val="none"/>
          </c:marker>
          <c:cat>
            <c:numRef>
              <c:f>'Chart Data'!$A$2:$A$16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'Chart Data'!$B$2:$B$16</c:f>
              <c:numCache>
                <c:formatCode>General</c:formatCode>
                <c:ptCount val="15"/>
                <c:pt idx="0">
                  <c:v>0.533096</c:v>
                </c:pt>
                <c:pt idx="1">
                  <c:v>0.523156</c:v>
                </c:pt>
                <c:pt idx="2">
                  <c:v>0.559734</c:v>
                </c:pt>
                <c:pt idx="3">
                  <c:v>0.582908</c:v>
                </c:pt>
                <c:pt idx="4">
                  <c:v>0.600631</c:v>
                </c:pt>
                <c:pt idx="5">
                  <c:v>0.600644</c:v>
                </c:pt>
                <c:pt idx="6">
                  <c:v>0.60949</c:v>
                </c:pt>
                <c:pt idx="7">
                  <c:v>0.611878</c:v>
                </c:pt>
                <c:pt idx="8">
                  <c:v>0.615835</c:v>
                </c:pt>
                <c:pt idx="9">
                  <c:v>0.635159</c:v>
                </c:pt>
                <c:pt idx="10">
                  <c:v>0.645743</c:v>
                </c:pt>
                <c:pt idx="11">
                  <c:v>0.650331</c:v>
                </c:pt>
                <c:pt idx="12">
                  <c:v>0.671112</c:v>
                </c:pt>
                <c:pt idx="13">
                  <c:v>0.673006</c:v>
                </c:pt>
                <c:pt idx="14">
                  <c:v>0.682346</c:v>
                </c:pt>
              </c:numCache>
            </c:numRef>
          </c:val>
        </c:ser>
        <c:ser>
          <c:idx val="1"/>
          <c:order val="1"/>
          <c:tx>
            <c:v>Validación interna</c:v>
          </c:tx>
          <c:spPr>
            <a:ln xmlns:a="http://schemas.openxmlformats.org/drawingml/2006/main" w="28575">
              <a:solidFill>
                <a:srgbClr val="B56916"/>
              </a:solidFill>
            </a:ln>
          </c:spPr>
          <c:marker>
            <c:symbol val="none"/>
          </c:marker>
          <c:cat>
            <c:numRef>
              <c:f>'Chart Data'!$C$2:$C$16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'Chart Data'!$D$2:$D$16</c:f>
              <c:numCache>
                <c:formatCode>General</c:formatCode>
                <c:ptCount val="15"/>
                <c:pt idx="0">
                  <c:v>0.455847</c:v>
                </c:pt>
                <c:pt idx="1">
                  <c:v>0.45504</c:v>
                </c:pt>
                <c:pt idx="2">
                  <c:v>0.475</c:v>
                </c:pt>
                <c:pt idx="3">
                  <c:v>0.526613</c:v>
                </c:pt>
                <c:pt idx="4">
                  <c:v>0.547782</c:v>
                </c:pt>
                <c:pt idx="5">
                  <c:v>0.576008</c:v>
                </c:pt>
                <c:pt idx="6">
                  <c:v>0.560081</c:v>
                </c:pt>
                <c:pt idx="7">
                  <c:v>0.547278</c:v>
                </c:pt>
                <c:pt idx="8">
                  <c:v>0.548185</c:v>
                </c:pt>
                <c:pt idx="9">
                  <c:v>0.556149</c:v>
                </c:pt>
                <c:pt idx="10">
                  <c:v>0.557762</c:v>
                </c:pt>
                <c:pt idx="11">
                  <c:v>0.553024</c:v>
                </c:pt>
                <c:pt idx="12">
                  <c:v>0.566935</c:v>
                </c:pt>
                <c:pt idx="13">
                  <c:v>0.56623</c:v>
                </c:pt>
                <c:pt idx="14">
                  <c:v>0.558972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uli"/>
                  <a:ea typeface="Muli"/>
                  <a:cs typeface="Mul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83043"/>
                    </a:solidFill>
                    <a:latin typeface="Muli"/>
                    <a:ea typeface="Muli"/>
                    <a:cs typeface="Muli"/>
                  </a:rPr>
                  <a:t>Época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83043"/>
                  </a:solidFill>
                  <a:latin typeface="Muli"/>
                  <a:ea typeface="Muli"/>
                  <a:cs typeface="Mul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83043"/>
                    </a:solidFill>
                    <a:latin typeface="Muli"/>
                    <a:ea typeface="Muli"/>
                    <a:cs typeface="Muli"/>
                  </a:rPr>
                  <a:t>AUC por paciente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83043"/>
                  </a:solidFill>
                  <a:latin typeface="Muli"/>
                  <a:ea typeface="Muli"/>
                  <a:cs typeface="Mul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3043"/>
              </a:solidFill>
              <a:latin typeface="Muli"/>
              <a:ea typeface="Muli"/>
              <a:cs typeface="Mul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AUC interna</c:v>
          </c:tx>
          <c:spPr>
            <a:solidFill xmlns:a="http://schemas.openxmlformats.org/drawingml/2006/main">
              <a:srgbClr val="0862A7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Imágenes</c:v>
                </c:pt>
                <c:pt idx="1">
                  <c:v>Edad + subtipo</c:v>
                </c:pt>
                <c:pt idx="2">
                  <c:v>Combinación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0.576</c:v>
                </c:pt>
                <c:pt idx="1">
                  <c:v>0.689</c:v>
                </c:pt>
                <c:pt idx="2">
                  <c:v>0.717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uli"/>
                  <a:ea typeface="Muli"/>
                  <a:cs typeface="Mul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7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redicción de respuesta al tratamiento">
            <a:extLst xmlns:a="http://schemas.openxmlformats.org/drawingml/2006/main">
              <a:ext uri="{FF2B5EF4-FFF2-40B4-BE49-F238E27FC236}">
                <a16:creationId xmlns:a16="http://schemas.microsoft.com/office/drawing/2014/main" id="{6F0D4E42-3B2E-4B3C-A1C7-17C38F44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30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Predicción de respuesta al tratamiento</a:t>
            </a:r>
          </a:p>
        </p:txBody>
      </p:sp>
      <p:sp>
        <p:nvSpPr>
          <p:cNvPr id="2" name="1 / 5">
            <a:extLst xmlns:a="http://schemas.openxmlformats.org/drawingml/2006/main">
              <a:ext uri="{FF2B5EF4-FFF2-40B4-BE49-F238E27FC236}">
                <a16:creationId xmlns:a16="http://schemas.microsoft.com/office/drawing/2014/main" id="{6E417B95-35D5-4BBC-922D-8B554FC1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81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350" b="0">
                <a:solidFill>
                  <a:srgbClr val="526875"/>
                </a:solidFill>
                <a:latin typeface="Muli"/>
                <a:ea typeface="Muli"/>
                <a:cs typeface="Muli"/>
              </a:rPr>
              <a:t>1 / 5</a:t>
            </a:r>
          </a:p>
        </p:txBody>
      </p:sp>
      <p:sp>
        <p:nvSpPr>
          <p:cNvPr id="3" name="Resonancia antes del tratamiento">
            <a:extLst xmlns:a="http://schemas.openxmlformats.org/drawingml/2006/main">
              <a:ext uri="{FF2B5EF4-FFF2-40B4-BE49-F238E27FC236}">
                <a16:creationId xmlns:a16="http://schemas.microsoft.com/office/drawing/2014/main" id="{3FC89C50-2ABF-4209-B76D-9D4CD0D2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225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Resonancia antes del tratamiento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74615-8171-463F-B6A9-55ECF76C87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f4084b0a34328"/>
          <a:stretch xmlns:a="http://schemas.openxmlformats.org/drawingml/2006/main"/>
        </p:blipFill>
        <p:spPr>
          <a:xfrm xmlns:a="http://schemas.openxmlformats.org/drawingml/2006/main">
            <a:off x="609600" y="2477119"/>
            <a:ext cx="10953750" cy="3161063"/>
          </a:xfrm>
          <a:prstGeom xmlns:a="http://schemas.openxmlformats.org/drawingml/2006/main" prst="rect">
            <a:avLst/>
          </a:prstGeom>
        </p:spPr>
      </p:pic>
      <p:sp>
        <p:nvSpPr>
          <p:cNvPr id="5" name="Objetivo: una probabilidad de pCR por paciente">
            <a:extLst xmlns:a="http://schemas.openxmlformats.org/drawingml/2006/main">
              <a:ext uri="{FF2B5EF4-FFF2-40B4-BE49-F238E27FC236}">
                <a16:creationId xmlns:a16="http://schemas.microsoft.com/office/drawing/2014/main" id="{037E315F-9FD2-4676-8116-8DA8EC5E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225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Objetivo: una probabilidad de pCR por paciente</a:t>
            </a:r>
          </a:p>
        </p:txBody>
      </p:sp>
    </p:spTree>
    <p:extLst>
      <p:ext uri="{BB962C8B-B14F-4D97-AF65-F5344CB8AC3E}">
        <p14:creationId xmlns:p14="http://schemas.microsoft.com/office/powerpoint/2010/main" val="34188538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atos separados por paciente">
            <a:extLst xmlns:a="http://schemas.openxmlformats.org/drawingml/2006/main">
              <a:ext uri="{FF2B5EF4-FFF2-40B4-BE49-F238E27FC236}">
                <a16:creationId xmlns:a16="http://schemas.microsoft.com/office/drawing/2014/main" id="{1B81B1A2-4C07-427B-B681-5839214C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30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Datos separados por paciente</a:t>
            </a:r>
          </a:p>
        </p:txBody>
      </p:sp>
      <p:sp>
        <p:nvSpPr>
          <p:cNvPr id="2" name="2 / 5">
            <a:extLst xmlns:a="http://schemas.openxmlformats.org/drawingml/2006/main">
              <a:ext uri="{FF2B5EF4-FFF2-40B4-BE49-F238E27FC236}">
                <a16:creationId xmlns:a16="http://schemas.microsoft.com/office/drawing/2014/main" id="{4310BEC0-AC56-4FFF-A3C1-6748C23D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81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350" b="0">
                <a:solidFill>
                  <a:srgbClr val="526875"/>
                </a:solidFill>
                <a:latin typeface="Muli"/>
                <a:ea typeface="Muli"/>
                <a:cs typeface="Muli"/>
              </a:rPr>
              <a:t>2 / 5</a:t>
            </a:r>
          </a:p>
        </p:txBody>
      </p:sp>
      <p:sp>
        <p:nvSpPr>
          <p:cNvPr id="3" name="1.097 pacientes para desarrollar el modelo">
            <a:extLst xmlns:a="http://schemas.openxmlformats.org/drawingml/2006/main">
              <a:ext uri="{FF2B5EF4-FFF2-40B4-BE49-F238E27FC236}">
                <a16:creationId xmlns:a16="http://schemas.microsoft.com/office/drawing/2014/main" id="{CEE0DA75-134B-4805-ACA0-B88A88E9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25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25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25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25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25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25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25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25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25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255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1.097 pacientes para desarrollar el modelo</a:t>
            </a:r>
          </a:p>
        </p:txBody>
      </p:sp>
      <p:sp>
        <p:nvSpPr>
          <p:cNvPr id="4" name="878">
            <a:extLst xmlns:a="http://schemas.openxmlformats.org/drawingml/2006/main">
              <a:ext uri="{FF2B5EF4-FFF2-40B4-BE49-F238E27FC236}">
                <a16:creationId xmlns:a16="http://schemas.microsoft.com/office/drawing/2014/main" id="{50BC7C39-106E-4A82-A1DA-CB9C2226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46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46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46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46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46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46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46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46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46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465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878</a:t>
            </a:r>
          </a:p>
        </p:txBody>
      </p:sp>
      <p:sp>
        <p:nvSpPr>
          <p:cNvPr id="5" name="entrenamiento">
            <a:extLst xmlns:a="http://schemas.openxmlformats.org/drawingml/2006/main">
              <a:ext uri="{FF2B5EF4-FFF2-40B4-BE49-F238E27FC236}">
                <a16:creationId xmlns:a16="http://schemas.microsoft.com/office/drawing/2014/main" id="{D5FF5928-2590-4932-91A7-E6F3CC4E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2250" b="0">
                <a:solidFill>
                  <a:srgbClr val="183043"/>
                </a:solidFill>
                <a:latin typeface="Muli"/>
                <a:ea typeface="Muli"/>
                <a:cs typeface="Muli"/>
              </a:rPr>
              <a:t>entrenamiento</a:t>
            </a:r>
          </a:p>
        </p:txBody>
      </p:sp>
      <p:sp>
        <p:nvSpPr>
          <p:cNvPr id="6" name="219">
            <a:extLst xmlns:a="http://schemas.openxmlformats.org/drawingml/2006/main">
              <a:ext uri="{FF2B5EF4-FFF2-40B4-BE49-F238E27FC236}">
                <a16:creationId xmlns:a16="http://schemas.microsoft.com/office/drawing/2014/main" id="{E7037C21-4EB8-4208-BC78-737E543C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B56916"/>
                </a:solidFill>
                <a:latin typeface="Muli"/>
                <a:ea typeface="Muli"/>
                <a:cs typeface="Muli"/>
              </a:defRPr>
            </a:defPPr>
            <a:lvl1pPr>
              <a:defRPr sz="4650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1pPr>
            <a:lvl2pPr>
              <a:defRPr sz="4650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2pPr>
            <a:lvl3pPr>
              <a:defRPr sz="4650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3pPr>
            <a:lvl4pPr>
              <a:defRPr sz="4650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4pPr>
            <a:lvl5pPr>
              <a:defRPr sz="4650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5pPr>
            <a:lvl6pPr>
              <a:defRPr sz="4650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6pPr>
            <a:lvl7pPr>
              <a:defRPr sz="4650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7pPr>
            <a:lvl8pPr>
              <a:defRPr sz="4650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8pPr>
            <a:lvl9pPr>
              <a:defRPr sz="4650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B56916"/>
                </a:solidFill>
                <a:latin typeface="Muli"/>
                <a:ea typeface="Muli"/>
                <a:cs typeface="Muli"/>
              </a:defRPr>
            </a:pPr>
            <a:r>
              <a:rPr sz="4650" b="1">
                <a:solidFill>
                  <a:srgbClr val="B56916"/>
                </a:solidFill>
                <a:latin typeface="Muli"/>
                <a:ea typeface="Muli"/>
                <a:cs typeface="Muli"/>
              </a:rPr>
              <a:t>219</a:t>
            </a:r>
          </a:p>
        </p:txBody>
      </p:sp>
      <p:sp>
        <p:nvSpPr>
          <p:cNvPr id="7" name="validación interna">
            <a:extLst xmlns:a="http://schemas.openxmlformats.org/drawingml/2006/main">
              <a:ext uri="{FF2B5EF4-FFF2-40B4-BE49-F238E27FC236}">
                <a16:creationId xmlns:a16="http://schemas.microsoft.com/office/drawing/2014/main" id="{FF40E897-3D6E-493A-BF8E-F346D673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2250" b="0">
                <a:solidFill>
                  <a:srgbClr val="183043"/>
                </a:solidFill>
                <a:latin typeface="Muli"/>
                <a:ea typeface="Muli"/>
                <a:cs typeface="Muli"/>
              </a:rPr>
              <a:t>validación interna</a:t>
            </a:r>
          </a:p>
        </p:txBody>
      </p:sp>
      <p:sp>
        <p:nvSpPr>
          <p:cNvPr id="8" name="Todos los cortes de una paciente permanecen juntos.">
            <a:extLst xmlns:a="http://schemas.openxmlformats.org/drawingml/2006/main">
              <a:ext uri="{FF2B5EF4-FFF2-40B4-BE49-F238E27FC236}">
                <a16:creationId xmlns:a16="http://schemas.microsoft.com/office/drawing/2014/main" id="{D2DD5A44-5AB6-4CF5-9175-078182E6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2250" b="0">
                <a:solidFill>
                  <a:srgbClr val="183043"/>
                </a:solidFill>
                <a:latin typeface="Muli"/>
                <a:ea typeface="Muli"/>
                <a:cs typeface="Muli"/>
              </a:rPr>
              <a:t>Todos los cortes de una paciente permanecen juntos.</a:t>
            </a:r>
          </a:p>
        </p:txBody>
      </p:sp>
      <p:sp>
        <p:nvSpPr>
          <p:cNvPr id="9" name="Test: 176 pacientes aparte. Aproximadamente el 29 % pre">
            <a:extLst xmlns:a="http://schemas.openxmlformats.org/drawingml/2006/main">
              <a:ext uri="{FF2B5EF4-FFF2-40B4-BE49-F238E27FC236}">
                <a16:creationId xmlns:a16="http://schemas.microsoft.com/office/drawing/2014/main" id="{58CD1721-0568-4F39-A4BA-4EEE520C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950" b="0">
                <a:solidFill>
                  <a:srgbClr val="526875"/>
                </a:solidFill>
                <a:latin typeface="Muli"/>
                <a:ea typeface="Muli"/>
                <a:cs typeface="Muli"/>
              </a:rPr>
              <a:t>Test: 176 pacientes aparte. Aproximadamente el 29 % presenta pCR.</a:t>
            </a:r>
          </a:p>
        </p:txBody>
      </p:sp>
      <p:sp>
        <p:nvSpPr>
          <p:cNvPr id="10" name="Fases / 255. Giro y reflejo conjuntos solo al entrenar.">
            <a:extLst xmlns:a="http://schemas.openxmlformats.org/drawingml/2006/main">
              <a:ext uri="{FF2B5EF4-FFF2-40B4-BE49-F238E27FC236}">
                <a16:creationId xmlns:a16="http://schemas.microsoft.com/office/drawing/2014/main" id="{024BE865-1483-467F-BEAF-880706F5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950" b="0">
                <a:solidFill>
                  <a:srgbClr val="526875"/>
                </a:solidFill>
                <a:latin typeface="Muli"/>
                <a:ea typeface="Muli"/>
                <a:cs typeface="Muli"/>
              </a:rPr>
              <a:t>Fases / 255. Giro y reflejo conjuntos solo al entrenar.</a:t>
            </a:r>
          </a:p>
        </p:txBody>
      </p:sp>
    </p:spTree>
    <p:extLst>
      <p:ext uri="{BB962C8B-B14F-4D97-AF65-F5344CB8AC3E}">
        <p14:creationId xmlns:p14="http://schemas.microsoft.com/office/powerpoint/2010/main" val="34188538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rquitectura propia de la CNN v8">
            <a:extLst xmlns:a="http://schemas.openxmlformats.org/drawingml/2006/main">
              <a:ext uri="{FF2B5EF4-FFF2-40B4-BE49-F238E27FC236}">
                <a16:creationId xmlns:a16="http://schemas.microsoft.com/office/drawing/2014/main" id="{6280EC3D-88AA-4DBA-AC19-351827C9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30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Arquitectura propia de la CNN v8</a:t>
            </a:r>
          </a:p>
        </p:txBody>
      </p:sp>
      <p:sp>
        <p:nvSpPr>
          <p:cNvPr id="2" name="3 / 5">
            <a:extLst xmlns:a="http://schemas.openxmlformats.org/drawingml/2006/main">
              <a:ext uri="{FF2B5EF4-FFF2-40B4-BE49-F238E27FC236}">
                <a16:creationId xmlns:a16="http://schemas.microsoft.com/office/drawing/2014/main" id="{74841BB9-A23E-4B73-94E8-8BCB18FD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81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350" b="0">
                <a:solidFill>
                  <a:srgbClr val="526875"/>
                </a:solidFill>
                <a:latin typeface="Muli"/>
                <a:ea typeface="Muli"/>
                <a:cs typeface="Muli"/>
              </a:rPr>
              <a:t>3 / 5</a:t>
            </a:r>
          </a:p>
        </p:txBody>
      </p:sp>
      <p:sp>
        <p:nvSpPr>
          <p:cNvPr id="3" name="Imágenes y realce">
            <a:extLst xmlns:a="http://schemas.openxmlformats.org/drawingml/2006/main">
              <a:ext uri="{FF2B5EF4-FFF2-40B4-BE49-F238E27FC236}">
                <a16:creationId xmlns:a16="http://schemas.microsoft.com/office/drawing/2014/main" id="{AE2ADAA2-94A0-4D01-A9DB-ABAD597F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24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Imágenes y realce</a:t>
            </a:r>
          </a:p>
        </p:txBody>
      </p:sp>
      <p:sp>
        <p:nvSpPr>
          <p:cNvPr id="4" name="PRE + EARLY + LATE + dos diferencias entre fases">
            <a:extLst xmlns:a="http://schemas.openxmlformats.org/drawingml/2006/main">
              <a:ext uri="{FF2B5EF4-FFF2-40B4-BE49-F238E27FC236}">
                <a16:creationId xmlns:a16="http://schemas.microsoft.com/office/drawing/2014/main" id="{73EC1885-5EE1-478B-BBA3-B7BC81A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2250" b="0">
                <a:solidFill>
                  <a:srgbClr val="183043"/>
                </a:solidFill>
                <a:latin typeface="Muli"/>
                <a:ea typeface="Muli"/>
                <a:cs typeface="Muli"/>
              </a:rPr>
              <a:t>PRE + EARLY + LATE + dos diferencias entre fases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9681-911D-461A-9CBD-D8FBB16DD39F}"/>
              </a:ext>
            </a:extLst>
          </p:cNvPr>
          <p:cNvGraphicFramePr/>
          <p:nvPr/>
        </p:nvGraphicFramePr>
        <p:xfrm>
          <a:off xmlns:a="http://schemas.openxmlformats.org/drawingml/2006/main" x="609600" y="3286125"/>
          <a:ext xmlns:a="http://schemas.openxmlformats.org/drawingml/2006/main" cx="109537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39000"/>
              </a:tblGrid>
              <a:tr h="54768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</a:rPr>
                        <a:t>Etapa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E1EB"/>
                      </a:solidFill>
                      <a:prstDash val="solid"/>
                    </a:lnL>
                    <a:lnR w="9525">
                      <a:solidFill>
                        <a:srgbClr val="D2E1EB"/>
                      </a:solidFill>
                      <a:prstDash val="solid"/>
                    </a:lnR>
                    <a:lnT w="9525">
                      <a:solidFill>
                        <a:srgbClr val="D2E1EB"/>
                      </a:solidFill>
                      <a:prstDash val="solid"/>
                    </a:lnT>
                    <a:lnB w="9525">
                      <a:solidFill>
                        <a:srgbClr val="D2E1EB"/>
                      </a:solidFill>
                      <a:prstDash val="solid"/>
                    </a:lnB>
                    <a:solidFill>
                      <a:srgbClr val="0862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</a:rPr>
                        <a:t>Función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E1EB"/>
                      </a:solidFill>
                      <a:prstDash val="solid"/>
                    </a:lnR>
                    <a:lnT w="9525">
                      <a:solidFill>
                        <a:srgbClr val="D2E1EB"/>
                      </a:solidFill>
                      <a:prstDash val="solid"/>
                    </a:lnT>
                    <a:lnB w="9525">
                      <a:solidFill>
                        <a:srgbClr val="D2E1EB"/>
                      </a:solidFill>
                      <a:prstDash val="solid"/>
                    </a:lnB>
                    <a:solidFill>
                      <a:srgbClr val="0862A7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043"/>
                          </a:solidFill>
                          <a:latin typeface="Muli"/>
                          <a:ea typeface="Muli"/>
                          <a:cs typeface="Muli"/>
                        </a:rPr>
                        <a:t>4 bloques residuales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E1EB"/>
                      </a:solidFill>
                      <a:prstDash val="solid"/>
                    </a:lnL>
                    <a:lnR w="9525">
                      <a:solidFill>
                        <a:srgbClr val="D2E1EB"/>
                      </a:solidFill>
                      <a:prstDash val="solid"/>
                    </a:lnR>
                    <a:lnB w="9525">
                      <a:solidFill>
                        <a:srgbClr val="D2E1EB"/>
                      </a:solidFill>
                      <a:prstDash val="soli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043"/>
                          </a:solidFill>
                          <a:latin typeface="Muli"/>
                          <a:ea typeface="Muli"/>
                          <a:cs typeface="Muli"/>
                        </a:rPr>
                        <a:t>Extraer patrones de las imágenes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E1EB"/>
                      </a:solidFill>
                      <a:prstDash val="solid"/>
                    </a:lnR>
                    <a:lnB w="9525">
                      <a:solidFill>
                        <a:srgbClr val="D2E1EB"/>
                      </a:solidFill>
                      <a:prstDash val="solid"/>
                    </a:lnB>
                    <a:solidFill>
                      <a:srgbClr val="F0F6FA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043"/>
                          </a:solidFill>
                          <a:latin typeface="Muli"/>
                          <a:ea typeface="Muli"/>
                          <a:cs typeface="Muli"/>
                        </a:rPr>
                        <a:t>Pooling global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E1EB"/>
                      </a:solidFill>
                      <a:prstDash val="solid"/>
                    </a:lnL>
                    <a:lnR w="9525">
                      <a:solidFill>
                        <a:srgbClr val="D2E1EB"/>
                      </a:solidFill>
                      <a:prstDash val="solid"/>
                    </a:lnR>
                    <a:lnB w="9525">
                      <a:solidFill>
                        <a:srgbClr val="D2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043"/>
                          </a:solidFill>
                          <a:latin typeface="Muli"/>
                          <a:ea typeface="Muli"/>
                          <a:cs typeface="Muli"/>
                        </a:rPr>
                        <a:t>Resumir los patrones de cada corte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E1EB"/>
                      </a:solidFill>
                      <a:prstDash val="solid"/>
                    </a:lnR>
                    <a:lnB w="9525">
                      <a:solidFill>
                        <a:srgbClr val="D2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043"/>
                          </a:solidFill>
                          <a:latin typeface="Muli"/>
                          <a:ea typeface="Muli"/>
                          <a:cs typeface="Muli"/>
                        </a:rPr>
                        <a:t>Clasificador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E1EB"/>
                      </a:solidFill>
                      <a:prstDash val="solid"/>
                    </a:lnL>
                    <a:lnR w="9525">
                      <a:solidFill>
                        <a:srgbClr val="D2E1EB"/>
                      </a:solidFill>
                      <a:prstDash val="solid"/>
                    </a:lnR>
                    <a:lnB w="9525">
                      <a:solidFill>
                        <a:srgbClr val="D2E1EB"/>
                      </a:solidFill>
                      <a:prstDash val="soli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043"/>
                          </a:solidFill>
                          <a:latin typeface="Muli"/>
                          <a:ea typeface="Muli"/>
                          <a:cs typeface="Muli"/>
                        </a:rPr>
                        <a:t>Estimar la probabilidad de pCR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E1EB"/>
                      </a:solidFill>
                      <a:prstDash val="solid"/>
                    </a:lnR>
                    <a:lnB w="9525">
                      <a:solidFill>
                        <a:srgbClr val="D2E1EB"/>
                      </a:solidFill>
                      <a:prstDash val="solid"/>
                    </a:lnB>
                    <a:solidFill>
                      <a:srgbClr val="F0F6FA"/>
                    </a:solidFill>
                  </a:tcPr>
                </a:tc>
              </a:tr>
            </a:tbl>
          </a:graphicData>
        </a:graphic>
      </p:graphicFrame>
      <p:sp>
        <p:nvSpPr>
          <p:cNvPr id="6" name="Desde cero">
            <a:extLst xmlns:a="http://schemas.openxmlformats.org/drawingml/2006/main">
              <a:ext uri="{FF2B5EF4-FFF2-40B4-BE49-F238E27FC236}">
                <a16:creationId xmlns:a16="http://schemas.microsoft.com/office/drawing/2014/main" id="{EC6FAB8E-0D05-4FF4-9C82-AE72474E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24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Desde cero</a:t>
            </a:r>
          </a:p>
        </p:txBody>
      </p:sp>
      <p:sp>
        <p:nvSpPr>
          <p:cNvPr id="7" name="232.833 parámetros entrenables">
            <a:extLst xmlns:a="http://schemas.openxmlformats.org/drawingml/2006/main">
              <a:ext uri="{FF2B5EF4-FFF2-40B4-BE49-F238E27FC236}">
                <a16:creationId xmlns:a16="http://schemas.microsoft.com/office/drawing/2014/main" id="{97483519-F02F-4BF8-B96C-F64D94AC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912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2250" b="0">
                <a:solidFill>
                  <a:srgbClr val="183043"/>
                </a:solidFill>
                <a:latin typeface="Muli"/>
                <a:ea typeface="Muli"/>
                <a:cs typeface="Muli"/>
              </a:rPr>
              <a:t>232.833 parámetros entrenables</a:t>
            </a:r>
          </a:p>
        </p:txBody>
      </p:sp>
    </p:spTree>
    <p:extLst>
      <p:ext uri="{BB962C8B-B14F-4D97-AF65-F5344CB8AC3E}">
        <p14:creationId xmlns:p14="http://schemas.microsoft.com/office/powerpoint/2010/main" val="34188538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lección del modelo durante el entrenamiento">
            <a:extLst xmlns:a="http://schemas.openxmlformats.org/drawingml/2006/main">
              <a:ext uri="{FF2B5EF4-FFF2-40B4-BE49-F238E27FC236}">
                <a16:creationId xmlns:a16="http://schemas.microsoft.com/office/drawing/2014/main" id="{FC388248-841E-4C64-A538-3FE832C5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30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Selección del modelo durante el entrenamiento</a:t>
            </a:r>
          </a:p>
        </p:txBody>
      </p:sp>
      <p:sp>
        <p:nvSpPr>
          <p:cNvPr id="2" name="4 / 5">
            <a:extLst xmlns:a="http://schemas.openxmlformats.org/drawingml/2006/main">
              <a:ext uri="{FF2B5EF4-FFF2-40B4-BE49-F238E27FC236}">
                <a16:creationId xmlns:a16="http://schemas.microsoft.com/office/drawing/2014/main" id="{9275C32A-4CE8-4A51-8F41-0F7E0498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81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350" b="0">
                <a:solidFill>
                  <a:srgbClr val="526875"/>
                </a:solidFill>
                <a:latin typeface="Muli"/>
                <a:ea typeface="Muli"/>
                <a:cs typeface="Muli"/>
              </a:rPr>
              <a:t>4 / 5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521CB3D2-83BB-4CFD-A6FF-DBD5516E7E57}"/>
              </a:ext>
            </a:extLst>
          </p:cNvPr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7524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5fb9f512dd4bea"/>
          </a:graphicData>
        </a:graphic>
      </p:graphicFrame>
      <p:sp>
        <p:nvSpPr>
          <p:cNvPr id="4" name="Época 6">
            <a:extLst xmlns:a="http://schemas.openxmlformats.org/drawingml/2006/main">
              <a:ext uri="{FF2B5EF4-FFF2-40B4-BE49-F238E27FC236}">
                <a16:creationId xmlns:a16="http://schemas.microsoft.com/office/drawing/2014/main" id="{51EE3596-C044-421F-98AC-93B6BBDD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34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34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34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34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34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34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34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34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34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345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Época 6</a:t>
            </a:r>
          </a:p>
        </p:txBody>
      </p:sp>
      <p:sp>
        <p:nvSpPr>
          <p:cNvPr id="5" name="modelo elegido">
            <a:extLst xmlns:a="http://schemas.openxmlformats.org/drawingml/2006/main">
              <a:ext uri="{FF2B5EF4-FFF2-40B4-BE49-F238E27FC236}">
                <a16:creationId xmlns:a16="http://schemas.microsoft.com/office/drawing/2014/main" id="{4E4B880B-A88A-4254-A03B-4E4C48B4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2025" b="0">
                <a:solidFill>
                  <a:srgbClr val="183043"/>
                </a:solidFill>
                <a:latin typeface="Muli"/>
                <a:ea typeface="Muli"/>
                <a:cs typeface="Muli"/>
              </a:rPr>
              <a:t>modelo elegido</a:t>
            </a:r>
          </a:p>
        </p:txBody>
      </p:sp>
      <p:sp>
        <p:nvSpPr>
          <p:cNvPr id="6" name="0,576">
            <a:extLst xmlns:a="http://schemas.openxmlformats.org/drawingml/2006/main">
              <a:ext uri="{FF2B5EF4-FFF2-40B4-BE49-F238E27FC236}">
                <a16:creationId xmlns:a16="http://schemas.microsoft.com/office/drawing/2014/main" id="{0F8C4D82-4E26-4973-91AF-D4E6AF47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48125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43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43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43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43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43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43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43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43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43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435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0,576</a:t>
            </a:r>
          </a:p>
        </p:txBody>
      </p:sp>
      <p:sp>
        <p:nvSpPr>
          <p:cNvPr id="7" name="AUC interna">
            <a:extLst xmlns:a="http://schemas.openxmlformats.org/drawingml/2006/main">
              <a:ext uri="{FF2B5EF4-FFF2-40B4-BE49-F238E27FC236}">
                <a16:creationId xmlns:a16="http://schemas.microsoft.com/office/drawing/2014/main" id="{9B32F434-FF27-496E-8D3A-D6BCFC7F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2025" b="0">
                <a:solidFill>
                  <a:srgbClr val="183043"/>
                </a:solidFill>
                <a:latin typeface="Muli"/>
                <a:ea typeface="Muli"/>
                <a:cs typeface="Muli"/>
              </a:rPr>
              <a:t>AUC interna</a:t>
            </a:r>
          </a:p>
        </p:txBody>
      </p:sp>
      <p:sp>
        <p:nvSpPr>
          <p:cNvPr id="8" name="Parada tras 9 épocas sin mejora. Umbral elegido en vali">
            <a:extLst xmlns:a="http://schemas.openxmlformats.org/drawingml/2006/main">
              <a:ext uri="{FF2B5EF4-FFF2-40B4-BE49-F238E27FC236}">
                <a16:creationId xmlns:a16="http://schemas.microsoft.com/office/drawing/2014/main" id="{F4F79410-B80B-47C4-BBCE-C7639C1D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950" b="0">
                <a:solidFill>
                  <a:srgbClr val="526875"/>
                </a:solidFill>
                <a:latin typeface="Muli"/>
                <a:ea typeface="Muli"/>
                <a:cs typeface="Muli"/>
              </a:rPr>
              <a:t>Parada tras 9 épocas sin mejora. Umbral elegido en validación.</a:t>
            </a:r>
          </a:p>
        </p:txBody>
      </p:sp>
    </p:spTree>
    <p:extLst>
      <p:ext uri="{BB962C8B-B14F-4D97-AF65-F5344CB8AC3E}">
        <p14:creationId xmlns:p14="http://schemas.microsoft.com/office/powerpoint/2010/main" val="34188538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plicación pública y límites del modelo">
            <a:extLst xmlns:a="http://schemas.openxmlformats.org/drawingml/2006/main">
              <a:ext uri="{FF2B5EF4-FFF2-40B4-BE49-F238E27FC236}">
                <a16:creationId xmlns:a16="http://schemas.microsoft.com/office/drawing/2014/main" id="{FC755A40-D042-4AEC-BDCC-D8171C2D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30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Aplicación pública y límites del modelo</a:t>
            </a:r>
          </a:p>
        </p:txBody>
      </p:sp>
      <p:sp>
        <p:nvSpPr>
          <p:cNvPr id="2" name="5 / 5">
            <a:extLst xmlns:a="http://schemas.openxmlformats.org/drawingml/2006/main">
              <a:ext uri="{FF2B5EF4-FFF2-40B4-BE49-F238E27FC236}">
                <a16:creationId xmlns:a16="http://schemas.microsoft.com/office/drawing/2014/main" id="{7604858D-AFE5-4BE4-8183-DC383036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81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350" b="0">
                <a:solidFill>
                  <a:srgbClr val="526875"/>
                </a:solidFill>
                <a:latin typeface="Muli"/>
                <a:ea typeface="Muli"/>
                <a:cs typeface="Muli"/>
              </a:rPr>
              <a:t>5 / 5</a:t>
            </a:r>
          </a:p>
        </p:txBody>
      </p:sp>
      <p:sp>
        <p:nvSpPr>
          <p:cNvPr id="3" name="breastcancer-bn0a.onrender.com">
            <a:extLst xmlns:a="http://schemas.openxmlformats.org/drawingml/2006/main">
              <a:ext uri="{FF2B5EF4-FFF2-40B4-BE49-F238E27FC236}">
                <a16:creationId xmlns:a16="http://schemas.microsoft.com/office/drawing/2014/main" id="{6270AAC6-AFF9-487B-AEAC-3F5143E3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24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breastcancer-bn0a.onrender.com</a:t>
            </a:r>
          </a:p>
        </p:txBody>
      </p:sp>
      <p:sp>
        <p:nvSpPr>
          <p:cNvPr id="4" name="Cargar fases, revisar imágenes y obtener una predicción">
            <a:extLst xmlns:a="http://schemas.openxmlformats.org/drawingml/2006/main">
              <a:ext uri="{FF2B5EF4-FFF2-40B4-BE49-F238E27FC236}">
                <a16:creationId xmlns:a16="http://schemas.microsoft.com/office/drawing/2014/main" id="{5839A97D-8BDE-480A-B1B2-B9A7E777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2100" b="0">
                <a:solidFill>
                  <a:srgbClr val="183043"/>
                </a:solidFill>
                <a:latin typeface="Muli"/>
                <a:ea typeface="Muli"/>
                <a:cs typeface="Muli"/>
              </a:rPr>
              <a:t>Cargar fases, revisar imágenes y obtener una predicción por paciente.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983D30D-7163-478C-8548-68D8E4E75CE9}"/>
              </a:ext>
            </a:extLst>
          </p:cNvPr>
          <p:cNvGraphicFramePr/>
          <p:nvPr/>
        </p:nvGraphicFramePr>
        <p:xfrm>
          <a:off xmlns:a="http://schemas.openxmlformats.org/drawingml/2006/main" x="514350" y="3524250"/>
          <a:ext xmlns:a="http://schemas.openxmlformats.org/drawingml/2006/main" cx="6572250" cy="2524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bef40d5c9d498c"/>
          </a:graphicData>
        </a:graphic>
      </p:graphicFrame>
      <p:sp>
        <p:nvSpPr>
          <p:cNvPr id="6" name="Comparación interna exploratoria">
            <a:extLst xmlns:a="http://schemas.openxmlformats.org/drawingml/2006/main">
              <a:ext uri="{FF2B5EF4-FFF2-40B4-BE49-F238E27FC236}">
                <a16:creationId xmlns:a16="http://schemas.microsoft.com/office/drawing/2014/main" id="{ED4EB452-3AB3-4556-80B0-A9620066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18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Comparación interna exploratoria</a:t>
            </a:r>
          </a:p>
        </p:txBody>
      </p:sp>
      <p:sp>
        <p:nvSpPr>
          <p:cNvPr id="7" name="Generalización limitada">
            <a:extLst xmlns:a="http://schemas.openxmlformats.org/drawingml/2006/main">
              <a:ext uri="{FF2B5EF4-FFF2-40B4-BE49-F238E27FC236}">
                <a16:creationId xmlns:a16="http://schemas.microsoft.com/office/drawing/2014/main" id="{063B06E2-1B16-4C3D-8712-83B3A3C5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00425"/>
            <a:ext cx="395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2175" b="1">
                <a:solidFill>
                  <a:srgbClr val="0862A7"/>
                </a:solidFill>
                <a:latin typeface="Muli"/>
                <a:ea typeface="Muli"/>
                <a:cs typeface="Muli"/>
              </a:rPr>
              <a:t>Generalización limitada</a:t>
            </a:r>
          </a:p>
        </p:txBody>
      </p:sp>
      <p:sp>
        <p:nvSpPr>
          <p:cNvPr id="8" name="Test de la CNN: AUC 0,504.&#10;El complemento necesita&#10;eval">
            <a:extLst xmlns:a="http://schemas.openxmlformats.org/drawingml/2006/main">
              <a:ext uri="{FF2B5EF4-FFF2-40B4-BE49-F238E27FC236}">
                <a16:creationId xmlns:a16="http://schemas.microsoft.com/office/drawing/2014/main" id="{BBE0519A-BD4D-4C1F-BEA9-765CC743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19550"/>
            <a:ext cx="3952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2025" b="0">
                <a:solidFill>
                  <a:srgbClr val="183043"/>
                </a:solidFill>
                <a:latin typeface="Muli"/>
                <a:ea typeface="Muli"/>
                <a:cs typeface="Muli"/>
              </a:rPr>
              <a:t>Test de la CNN: AUC 0,504.</a:t>
            </a:r>
          </a:p>
          <a:p xmlns:a="http://schemas.openxmlformats.org/drawingml/2006/main">
            <a: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2025" b="0">
                <a:solidFill>
                  <a:srgbClr val="183043"/>
                </a:solidFill>
                <a:latin typeface="Muli"/>
                <a:ea typeface="Muli"/>
                <a:cs typeface="Muli"/>
              </a:rPr>
              <a:t>El complemento necesita</a:t>
            </a:r>
          </a:p>
          <a:p xmlns:a="http://schemas.openxmlformats.org/drawingml/2006/main">
            <a:pPr>
              <a:defRPr sz="202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2025" b="0">
                <a:solidFill>
                  <a:srgbClr val="183043"/>
                </a:solidFill>
                <a:latin typeface="Muli"/>
                <a:ea typeface="Muli"/>
                <a:cs typeface="Muli"/>
              </a:rPr>
              <a:t>evaluación independiente.</a:t>
            </a:r>
          </a:p>
        </p:txBody>
      </p:sp>
      <p:sp>
        <p:nvSpPr>
          <p:cNvPr id="9" name="Uso docente. Sin utilidad clínica demostrada.">
            <a:extLst xmlns:a="http://schemas.openxmlformats.org/drawingml/2006/main">
              <a:ext uri="{FF2B5EF4-FFF2-40B4-BE49-F238E27FC236}">
                <a16:creationId xmlns:a16="http://schemas.microsoft.com/office/drawing/2014/main" id="{A694F545-02FC-4E06-AA02-12C8AEB0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486400"/>
            <a:ext cx="3952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875" b="0">
                <a:solidFill>
                  <a:srgbClr val="526875"/>
                </a:solidFill>
                <a:latin typeface="Muli"/>
                <a:ea typeface="Muli"/>
                <a:cs typeface="Muli"/>
              </a:rPr>
              <a:t>Uso docente. Sin utilidad clínica demostrada.</a:t>
            </a:r>
          </a:p>
        </p:txBody>
      </p:sp>
    </p:spTree>
    <p:extLst>
      <p:ext uri="{BB962C8B-B14F-4D97-AF65-F5344CB8AC3E}">
        <p14:creationId xmlns:p14="http://schemas.microsoft.com/office/powerpoint/2010/main" val="3418853889"/>
      </p:ext>
    </p:extLst>
  </p:cSld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M Roman 10">
      <a:majorFont>
        <a:latin typeface="LM Roman 10"/>
        <a:ea typeface=""/>
        <a:cs typeface=""/>
      </a:majorFont>
      <a:minorFont>
        <a:latin typeface="LM Roman 1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2026-10-30T16:11:56.4660000Z</dcterms:created>
  <dcterms:modified xsi:type="dcterms:W3CDTF">2026-10-30T16:11:56.4660000Z</dcterms:modified>
</coreProperties>
</file>